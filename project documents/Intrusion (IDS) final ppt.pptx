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57" r:id="rId3"/>
    <p:sldId id="258" r:id="rId4"/>
    <p:sldId id="259" r:id="rId5"/>
    <p:sldId id="260" r:id="rId6"/>
    <p:sldId id="261" r:id="rId7"/>
    <p:sldId id="262" r:id="rId8"/>
    <p:sldId id="263" r:id="rId9"/>
    <p:sldId id="265" r:id="rId10"/>
    <p:sldId id="267" r:id="rId11"/>
    <p:sldId id="266" r:id="rId12"/>
    <p:sldId id="268" r:id="rId13"/>
    <p:sldId id="269" r:id="rId14"/>
    <p:sldId id="278" r:id="rId15"/>
    <p:sldId id="279" r:id="rId16"/>
    <p:sldId id="270" r:id="rId17"/>
    <p:sldId id="271" r:id="rId18"/>
    <p:sldId id="272" r:id="rId19"/>
    <p:sldId id="276" r:id="rId20"/>
    <p:sldId id="273" r:id="rId21"/>
    <p:sldId id="274" r:id="rId22"/>
    <p:sldId id="275" r:id="rId23"/>
    <p:sldId id="277" r:id="rId24"/>
    <p:sldId id="280" r:id="rId25"/>
    <p:sldId id="281" r:id="rId26"/>
    <p:sldId id="282" r:id="rId27"/>
    <p:sldId id="283" r:id="rId28"/>
    <p:sldId id="284" r:id="rId29"/>
    <p:sldId id="26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A262CF-1449-4A1E-AC34-8D64687B2523}" v="9" dt="2025-11-09T15:14:46.4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149CB1-CE88-4FB7-AE13-3212EC57FB79}" type="datetimeFigureOut">
              <a:rPr lang="en-IN" smtClean="0"/>
              <a:t>19-11-2025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814674-ABEE-4986-834A-C0189FC4BF6B}" type="slidenum">
              <a:rPr lang="en-IN" smtClean="0"/>
              <a:t>‹#›</a:t>
            </a:fld>
            <a:endParaRPr lang="en-IN"/>
          </a:p>
        </p:txBody>
      </p:sp>
    </p:spTree>
    <p:extLst>
      <p:ext uri="{BB962C8B-B14F-4D97-AF65-F5344CB8AC3E}">
        <p14:creationId xmlns:p14="http://schemas.microsoft.com/office/powerpoint/2010/main" val="21157057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14674-ABEE-4986-834A-C0189FC4BF6B}" type="slidenum">
              <a:rPr lang="en-IN" smtClean="0"/>
              <a:t>1</a:t>
            </a:fld>
            <a:endParaRPr lang="en-IN"/>
          </a:p>
        </p:txBody>
      </p:sp>
    </p:spTree>
    <p:extLst>
      <p:ext uri="{BB962C8B-B14F-4D97-AF65-F5344CB8AC3E}">
        <p14:creationId xmlns:p14="http://schemas.microsoft.com/office/powerpoint/2010/main" val="18687579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C814674-ABEE-4986-834A-C0189FC4BF6B}" type="slidenum">
              <a:rPr lang="en-IN" smtClean="0"/>
              <a:t>3</a:t>
            </a:fld>
            <a:endParaRPr lang="en-IN"/>
          </a:p>
        </p:txBody>
      </p:sp>
    </p:spTree>
    <p:extLst>
      <p:ext uri="{BB962C8B-B14F-4D97-AF65-F5344CB8AC3E}">
        <p14:creationId xmlns:p14="http://schemas.microsoft.com/office/powerpoint/2010/main" val="31949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E539C-ED92-33CD-19DF-41B65A2AB90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3C59FA6-F15D-F08D-E7F2-574A54EB3D7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162F10C-2FD9-E9C9-8ED5-BD563B1959B7}"/>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46443AF2-EE6B-47A1-04C8-BE0346E2839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C6D079-21AD-5505-D52F-91893FCC3F67}"/>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20389108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45E44-D28F-CAC2-7413-81FD7541599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D5A8854-C4AB-23A3-5049-5839089AE89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5D7DA6-8635-B3F6-4E48-B24965380B6B}"/>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E820AF48-9DB9-7120-47D1-A600D20D431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5FB16A-3D36-461F-B0F9-3F4D6CB84539}"/>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1627494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A0CEA-026B-6070-50A8-ECB634FEF5F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910BC84-D2C5-24DF-668D-D428B7387F8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ACFED9-10E3-A60A-A56C-8B5D925C3C6B}"/>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BAEB9ECE-2A5B-97FA-AAA2-DB2D040863E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6B05591-72CA-04BE-265D-EFDB754795AE}"/>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3193010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CB279-935D-07D9-4406-8814405DA1D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0C145F4-085A-C0A9-413D-2FD3A8FD56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17F8B3D-6A84-BE56-5EFF-5FC58BD746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78071D-B642-CAFF-C4D4-C0C819667306}"/>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6" name="Footer Placeholder 5">
            <a:extLst>
              <a:ext uri="{FF2B5EF4-FFF2-40B4-BE49-F238E27FC236}">
                <a16:creationId xmlns:a16="http://schemas.microsoft.com/office/drawing/2014/main" id="{55B3E91E-C6FD-C5F1-2556-0C45AF53B3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57D97A-C769-DBA4-C7BA-51321675A0F0}"/>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3284026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DE4E6-4021-D660-17E0-C9BE782061C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378E666-B9A2-4566-E436-2C83FAC779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9BB369-5011-3E08-29CD-E3C8547F74F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2021720-3BB3-5C01-FC46-E5F8568077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1A950CB-BDFD-D2C3-2B0C-F09221DDED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41AECF4-3784-06A8-1AFA-E9569AA6265C}"/>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8" name="Footer Placeholder 7">
            <a:extLst>
              <a:ext uri="{FF2B5EF4-FFF2-40B4-BE49-F238E27FC236}">
                <a16:creationId xmlns:a16="http://schemas.microsoft.com/office/drawing/2014/main" id="{D1320A23-9E32-8045-4AEA-51FFB1479D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64C0B1-59C3-6B00-D352-16DA47A64B1C}"/>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25627482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26C68-1237-904D-BF51-0AED5E8D7ED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8F8CA7-FE58-F15D-A094-4F5D6B4BF589}"/>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4" name="Footer Placeholder 3">
            <a:extLst>
              <a:ext uri="{FF2B5EF4-FFF2-40B4-BE49-F238E27FC236}">
                <a16:creationId xmlns:a16="http://schemas.microsoft.com/office/drawing/2014/main" id="{90C6BF7E-4917-B492-5593-17CCB44183F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0212C05-EE24-F276-281D-22DC2DFBEC5E}"/>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8429681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7304F46-A4A1-A156-A81A-FA50A6DF3C96}"/>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3" name="Footer Placeholder 2">
            <a:extLst>
              <a:ext uri="{FF2B5EF4-FFF2-40B4-BE49-F238E27FC236}">
                <a16:creationId xmlns:a16="http://schemas.microsoft.com/office/drawing/2014/main" id="{448A8E06-B1D0-DC91-D5D8-96AD3D0EBE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E55E861-1C99-ED4D-7B4A-C5137CEC184F}"/>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31586633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FB311D-7095-ACC2-4F12-8F7DE558F79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A01BDC6-EAAB-EB86-B797-EB55EE9D9BC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4FC34E-F539-1B64-0785-60FB6C15F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F8AE82-5F95-ADD3-6218-A58F8E333698}"/>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6" name="Footer Placeholder 5">
            <a:extLst>
              <a:ext uri="{FF2B5EF4-FFF2-40B4-BE49-F238E27FC236}">
                <a16:creationId xmlns:a16="http://schemas.microsoft.com/office/drawing/2014/main" id="{3A813F9D-6351-0382-01A5-B2FF694F0B4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7CD9D0F-5EEA-098B-04FF-E620449B1B5E}"/>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1429247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552C2-03FC-4B85-C22C-B370F87356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D8BEFD9-286A-776C-9CCC-1F82753262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74F9D35-997E-EDA5-983B-98F447618C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23F39AB-490D-3005-1D5E-005E8C085AC4}"/>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6" name="Footer Placeholder 5">
            <a:extLst>
              <a:ext uri="{FF2B5EF4-FFF2-40B4-BE49-F238E27FC236}">
                <a16:creationId xmlns:a16="http://schemas.microsoft.com/office/drawing/2014/main" id="{119A9A85-A634-E39C-21E7-6EB16CC3668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D2D6CA-3AF0-4098-F43A-17035FBCB4F4}"/>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39299093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6DDF2-DC7D-B5D6-AAA0-DA8F8240C8B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6B82E05-1136-1A03-002B-23FC7BAF1D2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4642A4-4DC3-9A9F-128E-E68404665CB0}"/>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CE75A283-DF84-0CD8-CDBC-5A5B5F45656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BEBC42C-4E60-A613-307A-DDD3AB91E4C8}"/>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11506926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20C0F0-6259-ABCE-CBC9-E1E2AD9C09D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062FB06-AF4C-D416-1858-8CA6139B36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8E2E1D7-09CC-060C-392F-E3978A28ABB1}"/>
              </a:ext>
            </a:extLst>
          </p:cNvPr>
          <p:cNvSpPr>
            <a:spLocks noGrp="1"/>
          </p:cNvSpPr>
          <p:nvPr>
            <p:ph type="dt" sz="half" idx="10"/>
          </p:nvPr>
        </p:nvSpPr>
        <p:spPr/>
        <p:txBody>
          <a:body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BE2ADD3C-9565-62A8-84D4-FAABA4D1709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1BDE340-6C4F-01E5-F40E-636253E0ECF8}"/>
              </a:ext>
            </a:extLst>
          </p:cNvPr>
          <p:cNvSpPr>
            <a:spLocks noGrp="1"/>
          </p:cNvSpPr>
          <p:nvPr>
            <p:ph type="sldNum" sz="quarter" idx="12"/>
          </p:nvPr>
        </p:nvSpPr>
        <p:spPr/>
        <p:txBody>
          <a:bodyPr/>
          <a:lstStyle/>
          <a:p>
            <a:fld id="{0E4FB68F-03D2-49BA-9862-AA059A20D53E}" type="slidenum">
              <a:rPr lang="en-IN" smtClean="0"/>
              <a:t>‹#›</a:t>
            </a:fld>
            <a:endParaRPr lang="en-IN"/>
          </a:p>
        </p:txBody>
      </p:sp>
    </p:spTree>
    <p:extLst>
      <p:ext uri="{BB962C8B-B14F-4D97-AF65-F5344CB8AC3E}">
        <p14:creationId xmlns:p14="http://schemas.microsoft.com/office/powerpoint/2010/main" val="13930312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BEAA81-E7A6-F67D-FC8F-C355340AE8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A31095-CC01-C008-C74D-F36558FED8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61AC619-EDDF-38B2-6F13-606049FAD2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6BFCC6-1A27-4B12-B378-5B826DDFAEF0}" type="datetimeFigureOut">
              <a:rPr lang="en-IN" smtClean="0"/>
              <a:t>19-11-2025</a:t>
            </a:fld>
            <a:endParaRPr lang="en-IN"/>
          </a:p>
        </p:txBody>
      </p:sp>
      <p:sp>
        <p:nvSpPr>
          <p:cNvPr id="5" name="Footer Placeholder 4">
            <a:extLst>
              <a:ext uri="{FF2B5EF4-FFF2-40B4-BE49-F238E27FC236}">
                <a16:creationId xmlns:a16="http://schemas.microsoft.com/office/drawing/2014/main" id="{21A21B9C-3079-4061-7E08-B97A63B974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13DCB6C-C927-60BE-3FB5-CA43A2233A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E4FB68F-03D2-49BA-9862-AA059A20D53E}" type="slidenum">
              <a:rPr lang="en-IN" smtClean="0"/>
              <a:t>‹#›</a:t>
            </a:fld>
            <a:endParaRPr lang="en-IN"/>
          </a:p>
        </p:txBody>
      </p:sp>
    </p:spTree>
    <p:extLst>
      <p:ext uri="{BB962C8B-B14F-4D97-AF65-F5344CB8AC3E}">
        <p14:creationId xmlns:p14="http://schemas.microsoft.com/office/powerpoint/2010/main" val="1468327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F0810A93-9D60-F0CF-E8A7-220C17780E78}"/>
              </a:ext>
            </a:extLst>
          </p:cNvPr>
          <p:cNvSpPr txBox="1"/>
          <p:nvPr/>
        </p:nvSpPr>
        <p:spPr>
          <a:xfrm>
            <a:off x="2241754" y="454431"/>
            <a:ext cx="9016181" cy="461665"/>
          </a:xfrm>
          <a:prstGeom prst="rect">
            <a:avLst/>
          </a:prstGeom>
          <a:noFill/>
        </p:spPr>
        <p:txBody>
          <a:bodyPr wrap="square">
            <a:spAutoFit/>
          </a:bodyPr>
          <a:lstStyle/>
          <a:p>
            <a:r>
              <a:rPr lang="en-US" sz="2400" b="1" dirty="0">
                <a:latin typeface="Times New Roman" panose="02020603050405020304" pitchFamily="18" charset="0"/>
                <a:cs typeface="Times New Roman" panose="02020603050405020304" pitchFamily="18" charset="0"/>
              </a:rPr>
              <a:t>Gokaraju Rangaraju Institute Of Engineering And Technology</a:t>
            </a:r>
            <a:endParaRPr lang="en-IN" sz="2400" b="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7B2EF651-F03C-4D76-2B19-EC0C7B575EAE}"/>
              </a:ext>
            </a:extLst>
          </p:cNvPr>
          <p:cNvSpPr txBox="1"/>
          <p:nvPr/>
        </p:nvSpPr>
        <p:spPr>
          <a:xfrm>
            <a:off x="5024284" y="916096"/>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(Autonomous) </a:t>
            </a:r>
          </a:p>
        </p:txBody>
      </p:sp>
      <p:sp>
        <p:nvSpPr>
          <p:cNvPr id="13" name="TextBox 12">
            <a:extLst>
              <a:ext uri="{FF2B5EF4-FFF2-40B4-BE49-F238E27FC236}">
                <a16:creationId xmlns:a16="http://schemas.microsoft.com/office/drawing/2014/main" id="{DFF0E673-4DD9-162F-70EE-10C54E5960CE}"/>
              </a:ext>
            </a:extLst>
          </p:cNvPr>
          <p:cNvSpPr txBox="1"/>
          <p:nvPr/>
        </p:nvSpPr>
        <p:spPr>
          <a:xfrm>
            <a:off x="3362632" y="1377761"/>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Department Of Information Technology </a:t>
            </a:r>
          </a:p>
        </p:txBody>
      </p:sp>
      <p:sp>
        <p:nvSpPr>
          <p:cNvPr id="15" name="TextBox 14">
            <a:extLst>
              <a:ext uri="{FF2B5EF4-FFF2-40B4-BE49-F238E27FC236}">
                <a16:creationId xmlns:a16="http://schemas.microsoft.com/office/drawing/2014/main" id="{37F5AA09-D5A8-40B3-28BE-654853604E7D}"/>
              </a:ext>
            </a:extLst>
          </p:cNvPr>
          <p:cNvSpPr txBox="1"/>
          <p:nvPr/>
        </p:nvSpPr>
        <p:spPr>
          <a:xfrm>
            <a:off x="4542503" y="2301091"/>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 Major Project On</a:t>
            </a:r>
          </a:p>
        </p:txBody>
      </p:sp>
      <p:sp>
        <p:nvSpPr>
          <p:cNvPr id="17" name="TextBox 16">
            <a:extLst>
              <a:ext uri="{FF2B5EF4-FFF2-40B4-BE49-F238E27FC236}">
                <a16:creationId xmlns:a16="http://schemas.microsoft.com/office/drawing/2014/main" id="{504F11A0-4E24-A2D1-17E7-754CCDDA679C}"/>
              </a:ext>
            </a:extLst>
          </p:cNvPr>
          <p:cNvSpPr txBox="1"/>
          <p:nvPr/>
        </p:nvSpPr>
        <p:spPr>
          <a:xfrm>
            <a:off x="1079090" y="4172754"/>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Project Guide: </a:t>
            </a:r>
          </a:p>
        </p:txBody>
      </p:sp>
      <p:sp>
        <p:nvSpPr>
          <p:cNvPr id="19" name="TextBox 18">
            <a:extLst>
              <a:ext uri="{FF2B5EF4-FFF2-40B4-BE49-F238E27FC236}">
                <a16:creationId xmlns:a16="http://schemas.microsoft.com/office/drawing/2014/main" id="{2ED1A863-04FB-E922-C1F0-5F9F135544FE}"/>
              </a:ext>
            </a:extLst>
          </p:cNvPr>
          <p:cNvSpPr txBox="1"/>
          <p:nvPr/>
        </p:nvSpPr>
        <p:spPr>
          <a:xfrm>
            <a:off x="7521677" y="4154736"/>
            <a:ext cx="6096000"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Team Members:</a:t>
            </a:r>
          </a:p>
        </p:txBody>
      </p:sp>
      <p:sp>
        <p:nvSpPr>
          <p:cNvPr id="21" name="TextBox 20">
            <a:extLst>
              <a:ext uri="{FF2B5EF4-FFF2-40B4-BE49-F238E27FC236}">
                <a16:creationId xmlns:a16="http://schemas.microsoft.com/office/drawing/2014/main" id="{0A9BA3FE-7EB3-43C2-3295-A74A49BCFD15}"/>
              </a:ext>
            </a:extLst>
          </p:cNvPr>
          <p:cNvSpPr txBox="1"/>
          <p:nvPr/>
        </p:nvSpPr>
        <p:spPr>
          <a:xfrm>
            <a:off x="7504471" y="4731316"/>
            <a:ext cx="7231626" cy="1128514"/>
          </a:xfrm>
          <a:prstGeom prst="rect">
            <a:avLst/>
          </a:prstGeom>
          <a:noFill/>
        </p:spPr>
        <p:txBody>
          <a:bodyPr wrap="square">
            <a:spAutoFit/>
          </a:bodyPr>
          <a:lstStyle/>
          <a:p>
            <a:pPr marL="17145" algn="just">
              <a:lnSpc>
                <a:spcPct val="100000"/>
              </a:lnSpc>
              <a:spcBef>
                <a:spcPts val="835"/>
              </a:spcBef>
              <a:tabLst>
                <a:tab pos="1753235" algn="l"/>
              </a:tabLst>
            </a:pPr>
            <a:r>
              <a:rPr lang="en-IN" sz="1800" dirty="0">
                <a:effectLst/>
                <a:latin typeface="Times New Roman" panose="02020603050405020304" pitchFamily="18" charset="0"/>
                <a:ea typeface="Calibri" panose="020F0502020204030204" pitchFamily="34" charset="0"/>
              </a:rPr>
              <a:t>R.Pratheek Reddy (22241A12B7) </a:t>
            </a:r>
            <a:endParaRPr lang="en-IN" sz="1800" dirty="0">
              <a:latin typeface="Times New Roman"/>
              <a:cs typeface="Times New Roman"/>
            </a:endParaRPr>
          </a:p>
          <a:p>
            <a:pPr marL="22860" algn="just">
              <a:lnSpc>
                <a:spcPct val="100000"/>
              </a:lnSpc>
              <a:spcBef>
                <a:spcPts val="819"/>
              </a:spcBef>
            </a:pPr>
            <a:r>
              <a:rPr lang="en-IN" sz="1800" dirty="0">
                <a:effectLst/>
                <a:latin typeface="Times New Roman" panose="02020603050405020304" pitchFamily="18" charset="0"/>
                <a:ea typeface="Calibri" panose="020F0502020204030204" pitchFamily="34" charset="0"/>
              </a:rPr>
              <a:t>T.Lok Vinay(22241A12C3) </a:t>
            </a:r>
          </a:p>
          <a:p>
            <a:pPr marL="22860" algn="just">
              <a:lnSpc>
                <a:spcPct val="100000"/>
              </a:lnSpc>
              <a:spcBef>
                <a:spcPts val="819"/>
              </a:spcBef>
            </a:pPr>
            <a:r>
              <a:rPr lang="en-IN" sz="1800" dirty="0">
                <a:effectLst/>
                <a:latin typeface="Times New Roman" panose="02020603050405020304" pitchFamily="18" charset="0"/>
                <a:ea typeface="Calibri" panose="020F0502020204030204" pitchFamily="34" charset="0"/>
              </a:rPr>
              <a:t>P.Dinesh Reddy (22241A12B5) </a:t>
            </a:r>
            <a:endParaRPr lang="en-IN" sz="1800" dirty="0">
              <a:latin typeface="Times New Roman"/>
              <a:cs typeface="Times New Roman"/>
            </a:endParaRPr>
          </a:p>
        </p:txBody>
      </p:sp>
      <p:sp>
        <p:nvSpPr>
          <p:cNvPr id="23" name="TextBox 22">
            <a:extLst>
              <a:ext uri="{FF2B5EF4-FFF2-40B4-BE49-F238E27FC236}">
                <a16:creationId xmlns:a16="http://schemas.microsoft.com/office/drawing/2014/main" id="{08BDB137-312A-F525-E2F9-EA068584D095}"/>
              </a:ext>
            </a:extLst>
          </p:cNvPr>
          <p:cNvSpPr txBox="1"/>
          <p:nvPr/>
        </p:nvSpPr>
        <p:spPr>
          <a:xfrm>
            <a:off x="1079090" y="5029771"/>
            <a:ext cx="4171336"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Assistant Professor, </a:t>
            </a:r>
          </a:p>
        </p:txBody>
      </p:sp>
      <p:sp>
        <p:nvSpPr>
          <p:cNvPr id="25" name="TextBox 24">
            <a:extLst>
              <a:ext uri="{FF2B5EF4-FFF2-40B4-BE49-F238E27FC236}">
                <a16:creationId xmlns:a16="http://schemas.microsoft.com/office/drawing/2014/main" id="{1C36F5DE-295E-D637-CB1B-0DE7D759A8F0}"/>
              </a:ext>
            </a:extLst>
          </p:cNvPr>
          <p:cNvSpPr txBox="1"/>
          <p:nvPr/>
        </p:nvSpPr>
        <p:spPr>
          <a:xfrm>
            <a:off x="1452715" y="5399103"/>
            <a:ext cx="3234815" cy="369332"/>
          </a:xfrm>
          <a:prstGeom prst="rect">
            <a:avLst/>
          </a:prstGeom>
          <a:noFill/>
        </p:spPr>
        <p:txBody>
          <a:bodyPr wrap="square">
            <a:spAutoFit/>
          </a:bodyPr>
          <a:lstStyle/>
          <a:p>
            <a:r>
              <a:rPr lang="en-IN" dirty="0">
                <a:latin typeface="Times New Roman" panose="02020603050405020304" pitchFamily="18" charset="0"/>
                <a:cs typeface="Times New Roman" panose="02020603050405020304" pitchFamily="18" charset="0"/>
              </a:rPr>
              <a:t>Dept. of IT.</a:t>
            </a:r>
          </a:p>
        </p:txBody>
      </p:sp>
      <p:sp>
        <p:nvSpPr>
          <p:cNvPr id="26" name="TextBox 25">
            <a:extLst>
              <a:ext uri="{FF2B5EF4-FFF2-40B4-BE49-F238E27FC236}">
                <a16:creationId xmlns:a16="http://schemas.microsoft.com/office/drawing/2014/main" id="{53754AC6-2E47-BF63-6F40-38AFB4FB6746}"/>
              </a:ext>
            </a:extLst>
          </p:cNvPr>
          <p:cNvSpPr txBox="1"/>
          <p:nvPr/>
        </p:nvSpPr>
        <p:spPr>
          <a:xfrm>
            <a:off x="1079090" y="4705245"/>
            <a:ext cx="267437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Munagoti Usha Rani</a:t>
            </a:r>
            <a:endParaRPr lang="en-IN" dirty="0">
              <a:latin typeface="Times New Roman" panose="02020603050405020304" pitchFamily="18" charset="0"/>
              <a:cs typeface="Times New Roman" panose="02020603050405020304" pitchFamily="18" charset="0"/>
            </a:endParaRPr>
          </a:p>
        </p:txBody>
      </p:sp>
      <p:pic>
        <p:nvPicPr>
          <p:cNvPr id="27" name="Picture 26">
            <a:extLst>
              <a:ext uri="{FF2B5EF4-FFF2-40B4-BE49-F238E27FC236}">
                <a16:creationId xmlns:a16="http://schemas.microsoft.com/office/drawing/2014/main" id="{3098FE04-95AA-F769-F6C6-0C8FCE085E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4739" y="444558"/>
            <a:ext cx="1302025" cy="1266255"/>
          </a:xfrm>
          <a:prstGeom prst="rect">
            <a:avLst/>
          </a:prstGeom>
        </p:spPr>
      </p:pic>
      <p:sp>
        <p:nvSpPr>
          <p:cNvPr id="29" name="TextBox 28">
            <a:extLst>
              <a:ext uri="{FF2B5EF4-FFF2-40B4-BE49-F238E27FC236}">
                <a16:creationId xmlns:a16="http://schemas.microsoft.com/office/drawing/2014/main" id="{4117F4A8-AC2A-7EB3-4776-47D4AF281030}"/>
              </a:ext>
            </a:extLst>
          </p:cNvPr>
          <p:cNvSpPr txBox="1"/>
          <p:nvPr/>
        </p:nvSpPr>
        <p:spPr>
          <a:xfrm>
            <a:off x="564739" y="2944148"/>
            <a:ext cx="11889657" cy="461665"/>
          </a:xfrm>
          <a:prstGeom prst="rect">
            <a:avLst/>
          </a:prstGeom>
          <a:noFill/>
        </p:spPr>
        <p:txBody>
          <a:bodyPr wrap="square">
            <a:spAutoFit/>
          </a:bodyPr>
          <a:lstStyle/>
          <a:p>
            <a:r>
              <a:rPr lang="en-US" sz="2400" dirty="0">
                <a:latin typeface="Times New Roman" panose="02020603050405020304" pitchFamily="18" charset="0"/>
                <a:cs typeface="Times New Roman" panose="02020603050405020304" pitchFamily="18" charset="0"/>
              </a:rPr>
              <a:t>Intelligent Intrusion Detection System: Detecting Cyber Threats with Machine Learning</a:t>
            </a:r>
            <a:endParaRPr lang="en-IN" sz="2400"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66123E6A-680B-C01D-F537-7024899892AF}"/>
              </a:ext>
            </a:extLst>
          </p:cNvPr>
          <p:cNvSpPr txBox="1"/>
          <p:nvPr/>
        </p:nvSpPr>
        <p:spPr>
          <a:xfrm>
            <a:off x="10977717" y="245451"/>
            <a:ext cx="1214283" cy="461665"/>
          </a:xfrm>
          <a:prstGeom prst="rect">
            <a:avLst/>
          </a:prstGeom>
          <a:noFill/>
        </p:spPr>
        <p:txBody>
          <a:bodyPr wrap="square">
            <a:spAutoFit/>
          </a:bodyPr>
          <a:lstStyle/>
          <a:p>
            <a:r>
              <a:rPr lang="en-IN" sz="2400" b="1" dirty="0">
                <a:latin typeface="Times New Roman" panose="02020603050405020304" pitchFamily="18" charset="0"/>
                <a:cs typeface="Times New Roman" panose="02020603050405020304" pitchFamily="18" charset="0"/>
              </a:rPr>
              <a:t>B-15 </a:t>
            </a:r>
          </a:p>
        </p:txBody>
      </p:sp>
    </p:spTree>
    <p:extLst>
      <p:ext uri="{BB962C8B-B14F-4D97-AF65-F5344CB8AC3E}">
        <p14:creationId xmlns:p14="http://schemas.microsoft.com/office/powerpoint/2010/main" val="28368943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636AB37-A7A1-3125-C0D9-BA7A57652A59}"/>
              </a:ext>
            </a:extLst>
          </p:cNvPr>
          <p:cNvSpPr txBox="1"/>
          <p:nvPr/>
        </p:nvSpPr>
        <p:spPr>
          <a:xfrm>
            <a:off x="865237" y="863057"/>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Problem Statement:</a:t>
            </a:r>
          </a:p>
        </p:txBody>
      </p:sp>
      <p:sp>
        <p:nvSpPr>
          <p:cNvPr id="9" name="TextBox 8">
            <a:extLst>
              <a:ext uri="{FF2B5EF4-FFF2-40B4-BE49-F238E27FC236}">
                <a16:creationId xmlns:a16="http://schemas.microsoft.com/office/drawing/2014/main" id="{FB5421F5-576B-5617-4F77-8BE64A174181}"/>
              </a:ext>
            </a:extLst>
          </p:cNvPr>
          <p:cNvSpPr txBox="1"/>
          <p:nvPr/>
        </p:nvSpPr>
        <p:spPr>
          <a:xfrm>
            <a:off x="865237" y="1660615"/>
            <a:ext cx="10854814" cy="1631216"/>
          </a:xfrm>
          <a:prstGeom prst="rect">
            <a:avLst/>
          </a:prstGeom>
          <a:noFill/>
        </p:spPr>
        <p:txBody>
          <a:bodyPr wrap="square">
            <a:spAutoFit/>
          </a:bodyPr>
          <a:lstStyle/>
          <a:p>
            <a:pPr marL="342900" indent="-342900" algn="just">
              <a:buFont typeface="Courier New" panose="02070309020205020404" pitchFamily="49" charset="0"/>
              <a:buChar char="o"/>
            </a:pPr>
            <a:r>
              <a:rPr lang="en-IN" sz="2000" dirty="0"/>
              <a:t>In today’s interconnected world, computer networks face constant threats from cyberattacks such as Denial of Service (DoS), unauthorized access, privilege escalation, and probing. Traditional Intrusion Detection Systems (IDS) rely heavily on static rules and predefined attack signatures, making them less effective against new or evolving attack patterns. These limitations lead to delayed detection, increased false positives, and potential security breaches.</a:t>
            </a:r>
          </a:p>
        </p:txBody>
      </p:sp>
      <p:sp>
        <p:nvSpPr>
          <p:cNvPr id="11" name="TextBox 10">
            <a:extLst>
              <a:ext uri="{FF2B5EF4-FFF2-40B4-BE49-F238E27FC236}">
                <a16:creationId xmlns:a16="http://schemas.microsoft.com/office/drawing/2014/main" id="{69A0B900-E60C-64DD-806D-56835C74F073}"/>
              </a:ext>
            </a:extLst>
          </p:cNvPr>
          <p:cNvSpPr txBox="1"/>
          <p:nvPr/>
        </p:nvSpPr>
        <p:spPr>
          <a:xfrm>
            <a:off x="865237" y="3566169"/>
            <a:ext cx="10854814" cy="2246769"/>
          </a:xfrm>
          <a:prstGeom prst="rect">
            <a:avLst/>
          </a:prstGeom>
          <a:noFill/>
        </p:spPr>
        <p:txBody>
          <a:bodyPr wrap="square">
            <a:spAutoFit/>
          </a:bodyPr>
          <a:lstStyle/>
          <a:p>
            <a:pPr marL="342900" indent="-342900" algn="just">
              <a:buFont typeface="Courier New" panose="02070309020205020404" pitchFamily="49" charset="0"/>
              <a:buChar char="o"/>
            </a:pPr>
            <a:r>
              <a:rPr lang="en-IN" sz="2000" dirty="0"/>
              <a:t>With the increasing complexity and volume of network traffic, there is a pressing need for an intelligent IDS that can automatically learn patterns of normal and malicious activities from historical data, adapt to emerging threats, and operate in real time. This project aims to address this gap by developing a machine learning-based IDS that uses the NSL-KDD dataset to train and evaluate multiple algorithms, and integrates a web-based interface for easy deployment. The system should provide accurate, scalable, and real-time detection to enhance network security and reduce the risk of cyber intrusions.</a:t>
            </a:r>
          </a:p>
        </p:txBody>
      </p:sp>
    </p:spTree>
    <p:extLst>
      <p:ext uri="{BB962C8B-B14F-4D97-AF65-F5344CB8AC3E}">
        <p14:creationId xmlns:p14="http://schemas.microsoft.com/office/powerpoint/2010/main" val="16976203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4B1EB04-92A7-C98E-F2C7-5EDAEEF8B7D7}"/>
              </a:ext>
            </a:extLst>
          </p:cNvPr>
          <p:cNvSpPr txBox="1"/>
          <p:nvPr/>
        </p:nvSpPr>
        <p:spPr>
          <a:xfrm>
            <a:off x="658757" y="210544"/>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ABSTRACT: </a:t>
            </a:r>
          </a:p>
        </p:txBody>
      </p:sp>
      <p:sp>
        <p:nvSpPr>
          <p:cNvPr id="13" name="TextBox 12">
            <a:extLst>
              <a:ext uri="{FF2B5EF4-FFF2-40B4-BE49-F238E27FC236}">
                <a16:creationId xmlns:a16="http://schemas.microsoft.com/office/drawing/2014/main" id="{AA222375-FB54-6D42-3E9F-CFE5BB7B0FEB}"/>
              </a:ext>
            </a:extLst>
          </p:cNvPr>
          <p:cNvSpPr txBox="1"/>
          <p:nvPr/>
        </p:nvSpPr>
        <p:spPr>
          <a:xfrm>
            <a:off x="658757" y="5944898"/>
            <a:ext cx="11208773" cy="1015663"/>
          </a:xfrm>
          <a:prstGeom prst="rect">
            <a:avLst/>
          </a:prstGeom>
          <a:noFill/>
        </p:spPr>
        <p:txBody>
          <a:bodyPr wrap="square">
            <a:spAutoFit/>
          </a:bodyPr>
          <a:lstStyle/>
          <a:p>
            <a:pPr algn="just"/>
            <a:r>
              <a:rPr lang="en-US" dirty="0"/>
              <a:t>Intrusion Detection System, Cybersecurity, Machine Learning, NSL-KDD, Flask, Real-time Detection, Network Security, Python, Scapy. </a:t>
            </a:r>
            <a:endParaRPr lang="en-IN" dirty="0"/>
          </a:p>
          <a:p>
            <a:endParaRPr lang="en-IN" sz="2400"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54BC7DCC-7464-0B3D-40A9-C76D7B4170AC}"/>
              </a:ext>
            </a:extLst>
          </p:cNvPr>
          <p:cNvSpPr txBox="1"/>
          <p:nvPr/>
        </p:nvSpPr>
        <p:spPr>
          <a:xfrm>
            <a:off x="658757" y="5518475"/>
            <a:ext cx="6096000" cy="461665"/>
          </a:xfrm>
          <a:prstGeom prst="rect">
            <a:avLst/>
          </a:prstGeom>
          <a:noFill/>
        </p:spPr>
        <p:txBody>
          <a:bodyPr wrap="square">
            <a:spAutoFit/>
          </a:bodyPr>
          <a:lstStyle/>
          <a:p>
            <a:pPr algn="just"/>
            <a:r>
              <a:rPr lang="en-IN" sz="2400" b="1" dirty="0">
                <a:latin typeface="Times New Roman" panose="02020603050405020304" pitchFamily="18" charset="0"/>
                <a:cs typeface="Times New Roman" panose="02020603050405020304" pitchFamily="18" charset="0"/>
              </a:rPr>
              <a:t>Keywords:</a:t>
            </a:r>
          </a:p>
        </p:txBody>
      </p:sp>
      <p:sp>
        <p:nvSpPr>
          <p:cNvPr id="3" name="TextBox 2">
            <a:extLst>
              <a:ext uri="{FF2B5EF4-FFF2-40B4-BE49-F238E27FC236}">
                <a16:creationId xmlns:a16="http://schemas.microsoft.com/office/drawing/2014/main" id="{6A303777-1A7A-F066-05C1-FE518656E7FC}"/>
              </a:ext>
            </a:extLst>
          </p:cNvPr>
          <p:cNvSpPr txBox="1"/>
          <p:nvPr/>
        </p:nvSpPr>
        <p:spPr>
          <a:xfrm>
            <a:off x="658756" y="892232"/>
            <a:ext cx="11208773" cy="1200329"/>
          </a:xfrm>
          <a:prstGeom prst="rect">
            <a:avLst/>
          </a:prstGeom>
          <a:noFill/>
        </p:spPr>
        <p:txBody>
          <a:bodyPr wrap="square">
            <a:spAutoFit/>
          </a:bodyPr>
          <a:lstStyle/>
          <a:p>
            <a:pPr algn="just"/>
            <a:r>
              <a:rPr lang="en-IN" dirty="0"/>
              <a:t>The increasing number of cyberattacks in today’s digital world has made network security a crucial concern. Traditional security mechanisms such as firewalls and antivirus software are often insufficient to detect complex and evolving threats. To address this challenge, this project presents a Machine Learning–based Intrusion Detection System (IDS) that efficiently identifies and classifies network traffic as either normal or intrusive.</a:t>
            </a:r>
          </a:p>
        </p:txBody>
      </p:sp>
      <p:sp>
        <p:nvSpPr>
          <p:cNvPr id="6" name="TextBox 5">
            <a:extLst>
              <a:ext uri="{FF2B5EF4-FFF2-40B4-BE49-F238E27FC236}">
                <a16:creationId xmlns:a16="http://schemas.microsoft.com/office/drawing/2014/main" id="{F1765318-04FE-589D-EE9A-D0D352254151}"/>
              </a:ext>
            </a:extLst>
          </p:cNvPr>
          <p:cNvSpPr txBox="1"/>
          <p:nvPr/>
        </p:nvSpPr>
        <p:spPr>
          <a:xfrm>
            <a:off x="658756" y="2165941"/>
            <a:ext cx="11208772" cy="1200329"/>
          </a:xfrm>
          <a:prstGeom prst="rect">
            <a:avLst/>
          </a:prstGeom>
          <a:noFill/>
        </p:spPr>
        <p:txBody>
          <a:bodyPr wrap="square">
            <a:spAutoFit/>
          </a:bodyPr>
          <a:lstStyle/>
          <a:p>
            <a:pPr algn="just"/>
            <a:r>
              <a:rPr lang="en-IN" dirty="0"/>
              <a:t>The system uses the NSL-KDD dataset, a benchmark dataset for intrusion detection research. Data preprocessing techniques such as feature selection, encoding of categorical variables, and normalization were applied to enhance model performance. An XGBoost classifier was trained using the top 10 significant network features, chosen to simplify real-time implementation while maintaining high accuracy.</a:t>
            </a:r>
          </a:p>
        </p:txBody>
      </p:sp>
      <p:sp>
        <p:nvSpPr>
          <p:cNvPr id="8" name="TextBox 7">
            <a:extLst>
              <a:ext uri="{FF2B5EF4-FFF2-40B4-BE49-F238E27FC236}">
                <a16:creationId xmlns:a16="http://schemas.microsoft.com/office/drawing/2014/main" id="{75768D9C-5151-3200-2CAD-E23A4A75F06D}"/>
              </a:ext>
            </a:extLst>
          </p:cNvPr>
          <p:cNvSpPr txBox="1"/>
          <p:nvPr/>
        </p:nvSpPr>
        <p:spPr>
          <a:xfrm>
            <a:off x="658756" y="3476224"/>
            <a:ext cx="11090790" cy="1200329"/>
          </a:xfrm>
          <a:prstGeom prst="rect">
            <a:avLst/>
          </a:prstGeom>
          <a:noFill/>
        </p:spPr>
        <p:txBody>
          <a:bodyPr wrap="square">
            <a:spAutoFit/>
          </a:bodyPr>
          <a:lstStyle/>
          <a:p>
            <a:pPr algn="just"/>
            <a:r>
              <a:rPr lang="en-IN" dirty="0"/>
              <a:t>The trained model is integrated with a FastAPI backend to handle prediction requests and a React-based frontend that allows users to input feature values through an interactive interface. The frontend communicates with the backend via REST API calls, displaying the detection result—Normal or Intrusion—along with graphical visualizations using pie and bar charts for better interpretability.</a:t>
            </a:r>
          </a:p>
        </p:txBody>
      </p:sp>
      <p:sp>
        <p:nvSpPr>
          <p:cNvPr id="12" name="TextBox 11">
            <a:extLst>
              <a:ext uri="{FF2B5EF4-FFF2-40B4-BE49-F238E27FC236}">
                <a16:creationId xmlns:a16="http://schemas.microsoft.com/office/drawing/2014/main" id="{C96944B3-86F1-2D3F-B2D8-99F455CB22FA}"/>
              </a:ext>
            </a:extLst>
          </p:cNvPr>
          <p:cNvSpPr txBox="1"/>
          <p:nvPr/>
        </p:nvSpPr>
        <p:spPr>
          <a:xfrm>
            <a:off x="658756" y="4762190"/>
            <a:ext cx="11090790" cy="646331"/>
          </a:xfrm>
          <a:prstGeom prst="rect">
            <a:avLst/>
          </a:prstGeom>
          <a:noFill/>
        </p:spPr>
        <p:txBody>
          <a:bodyPr wrap="square">
            <a:spAutoFit/>
          </a:bodyPr>
          <a:lstStyle/>
          <a:p>
            <a:pPr algn="just"/>
            <a:r>
              <a:rPr lang="en-IN" dirty="0"/>
              <a:t>This IDS project demonstrates an effective and scalable approach for detecting network intrusions with improved accuracy and reduced complexity.</a:t>
            </a:r>
          </a:p>
        </p:txBody>
      </p:sp>
    </p:spTree>
    <p:extLst>
      <p:ext uri="{BB962C8B-B14F-4D97-AF65-F5344CB8AC3E}">
        <p14:creationId xmlns:p14="http://schemas.microsoft.com/office/powerpoint/2010/main" val="3052297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9EE1AD8-BC80-0278-AC3D-4016FD7BD5D4}"/>
              </a:ext>
            </a:extLst>
          </p:cNvPr>
          <p:cNvSpPr txBox="1"/>
          <p:nvPr/>
        </p:nvSpPr>
        <p:spPr>
          <a:xfrm>
            <a:off x="668594" y="847720"/>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Objective :</a:t>
            </a:r>
          </a:p>
        </p:txBody>
      </p:sp>
      <p:sp>
        <p:nvSpPr>
          <p:cNvPr id="7" name="TextBox 6">
            <a:extLst>
              <a:ext uri="{FF2B5EF4-FFF2-40B4-BE49-F238E27FC236}">
                <a16:creationId xmlns:a16="http://schemas.microsoft.com/office/drawing/2014/main" id="{0F0A81BA-56C8-8A6F-30D7-69C4883A06FC}"/>
              </a:ext>
            </a:extLst>
          </p:cNvPr>
          <p:cNvSpPr txBox="1"/>
          <p:nvPr/>
        </p:nvSpPr>
        <p:spPr>
          <a:xfrm>
            <a:off x="668594" y="1442403"/>
            <a:ext cx="11110451" cy="2352952"/>
          </a:xfrm>
          <a:prstGeom prst="rect">
            <a:avLst/>
          </a:prstGeom>
          <a:noFill/>
        </p:spPr>
        <p:txBody>
          <a:bodyPr wrap="square">
            <a:spAutoFit/>
          </a:bodyPr>
          <a:lstStyle/>
          <a:p>
            <a:pPr marL="342900" indent="-342900" algn="just">
              <a:lnSpc>
                <a:spcPct val="150000"/>
              </a:lnSpc>
              <a:buFont typeface="Courier New" panose="02070309020205020404" pitchFamily="49" charset="0"/>
              <a:buChar char="o"/>
            </a:pPr>
            <a:r>
              <a:rPr lang="en-IN" sz="2000" dirty="0"/>
              <a:t>To design and develop a machine learning-based Intrusion Detection System capable of identifying and classifying network intrusions with high accuracy.</a:t>
            </a:r>
          </a:p>
          <a:p>
            <a:pPr marL="342900" indent="-342900" algn="just">
              <a:lnSpc>
                <a:spcPct val="150000"/>
              </a:lnSpc>
              <a:buFont typeface="Courier New" panose="02070309020205020404" pitchFamily="49" charset="0"/>
              <a:buChar char="o"/>
            </a:pPr>
            <a:r>
              <a:rPr lang="en-IN" sz="2000" dirty="0"/>
              <a:t>To process and analyse network traffic data to detect both known and unknown attack patterns.</a:t>
            </a:r>
          </a:p>
          <a:p>
            <a:pPr marL="342900" indent="-342900" algn="just">
              <a:lnSpc>
                <a:spcPct val="150000"/>
              </a:lnSpc>
              <a:buFont typeface="Courier New" panose="02070309020205020404" pitchFamily="49" charset="0"/>
              <a:buChar char="o"/>
            </a:pPr>
            <a:r>
              <a:rPr lang="en-IN" sz="2000" dirty="0"/>
              <a:t>To reduce false positives while ensuring quick and reliable threat detection.</a:t>
            </a:r>
          </a:p>
          <a:p>
            <a:pPr marL="342900" indent="-342900" algn="just">
              <a:lnSpc>
                <a:spcPct val="150000"/>
              </a:lnSpc>
              <a:buFont typeface="Courier New" panose="02070309020205020404" pitchFamily="49" charset="0"/>
              <a:buChar char="o"/>
            </a:pPr>
            <a:r>
              <a:rPr lang="en-IN" sz="2000" dirty="0"/>
              <a:t>To provide a user-friendly interface for visualizing detected intrusions and system alerts.</a:t>
            </a:r>
          </a:p>
        </p:txBody>
      </p:sp>
    </p:spTree>
    <p:extLst>
      <p:ext uri="{BB962C8B-B14F-4D97-AF65-F5344CB8AC3E}">
        <p14:creationId xmlns:p14="http://schemas.microsoft.com/office/powerpoint/2010/main" val="39418477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1C4524-6E33-DDD1-006A-699CBC9913F6}"/>
              </a:ext>
            </a:extLst>
          </p:cNvPr>
          <p:cNvSpPr txBox="1"/>
          <p:nvPr/>
        </p:nvSpPr>
        <p:spPr>
          <a:xfrm>
            <a:off x="894735" y="2872093"/>
            <a:ext cx="10864646" cy="2814617"/>
          </a:xfrm>
          <a:prstGeom prst="rect">
            <a:avLst/>
          </a:prstGeom>
          <a:noFill/>
        </p:spPr>
        <p:txBody>
          <a:bodyPr wrap="square">
            <a:spAutoFit/>
          </a:bodyPr>
          <a:lstStyle/>
          <a:p>
            <a:pPr marL="342900" indent="-342900" algn="just">
              <a:lnSpc>
                <a:spcPct val="150000"/>
              </a:lnSpc>
              <a:buFont typeface="Courier New" panose="02070309020205020404" pitchFamily="49" charset="0"/>
              <a:buChar char="o"/>
            </a:pPr>
            <a:r>
              <a:rPr lang="en-IN" sz="2000" b="1" dirty="0"/>
              <a:t>Detection Types: </a:t>
            </a:r>
            <a:r>
              <a:rPr lang="en-IN" sz="2000" dirty="0"/>
              <a:t>Identify multiple categories of attacks such as Neptune, Smurf, </a:t>
            </a:r>
            <a:r>
              <a:rPr lang="en-IN" sz="2000" dirty="0" err="1"/>
              <a:t>Portsweep</a:t>
            </a:r>
            <a:r>
              <a:rPr lang="en-IN" sz="2000" dirty="0"/>
              <a:t>, Teardrop, Back ,etc.</a:t>
            </a:r>
          </a:p>
          <a:p>
            <a:pPr marL="342900" indent="-342900" algn="just">
              <a:lnSpc>
                <a:spcPct val="150000"/>
              </a:lnSpc>
              <a:buFont typeface="Courier New" panose="02070309020205020404" pitchFamily="49" charset="0"/>
              <a:buChar char="o"/>
            </a:pPr>
            <a:r>
              <a:rPr lang="en-IN" sz="2000" b="1" dirty="0"/>
              <a:t>Deployment: </a:t>
            </a:r>
            <a:r>
              <a:rPr lang="en-IN" sz="2000" dirty="0"/>
              <a:t>IDS can be implemented as an offline model for testing or integrated into a network monitoring system for real-time detection.</a:t>
            </a:r>
          </a:p>
          <a:p>
            <a:pPr marL="342900" indent="-342900" algn="just">
              <a:lnSpc>
                <a:spcPct val="150000"/>
              </a:lnSpc>
              <a:buFont typeface="Courier New" panose="02070309020205020404" pitchFamily="49" charset="0"/>
              <a:buChar char="o"/>
            </a:pPr>
            <a:r>
              <a:rPr lang="en-IN" sz="2000" b="1" dirty="0"/>
              <a:t>Future Scope: </a:t>
            </a:r>
            <a:r>
              <a:rPr lang="en-IN" sz="2000" dirty="0"/>
              <a:t>Extend to a real-time intrusion prevention system (IPS) and integrate deep learning for advanced detection.</a:t>
            </a:r>
          </a:p>
        </p:txBody>
      </p:sp>
      <p:sp>
        <p:nvSpPr>
          <p:cNvPr id="7" name="TextBox 6">
            <a:extLst>
              <a:ext uri="{FF2B5EF4-FFF2-40B4-BE49-F238E27FC236}">
                <a16:creationId xmlns:a16="http://schemas.microsoft.com/office/drawing/2014/main" id="{ABCE0F55-B718-0C3C-53E5-CB0DF9C28338}"/>
              </a:ext>
            </a:extLst>
          </p:cNvPr>
          <p:cNvSpPr txBox="1"/>
          <p:nvPr/>
        </p:nvSpPr>
        <p:spPr>
          <a:xfrm>
            <a:off x="894735" y="365940"/>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Scope Of The Project:</a:t>
            </a:r>
          </a:p>
        </p:txBody>
      </p:sp>
      <p:sp>
        <p:nvSpPr>
          <p:cNvPr id="9" name="TextBox 8">
            <a:extLst>
              <a:ext uri="{FF2B5EF4-FFF2-40B4-BE49-F238E27FC236}">
                <a16:creationId xmlns:a16="http://schemas.microsoft.com/office/drawing/2014/main" id="{52C0419C-44A4-4455-A133-71A3988EF447}"/>
              </a:ext>
            </a:extLst>
          </p:cNvPr>
          <p:cNvSpPr txBox="1"/>
          <p:nvPr/>
        </p:nvSpPr>
        <p:spPr>
          <a:xfrm>
            <a:off x="894735" y="980806"/>
            <a:ext cx="10864646" cy="1891287"/>
          </a:xfrm>
          <a:prstGeom prst="rect">
            <a:avLst/>
          </a:prstGeom>
          <a:noFill/>
        </p:spPr>
        <p:txBody>
          <a:bodyPr wrap="square">
            <a:spAutoFit/>
          </a:bodyPr>
          <a:lstStyle/>
          <a:p>
            <a:pPr marL="285750" indent="-285750" algn="just">
              <a:lnSpc>
                <a:spcPct val="150000"/>
              </a:lnSpc>
              <a:buFont typeface="Courier New" panose="02070309020205020404" pitchFamily="49" charset="0"/>
              <a:buChar char="o"/>
            </a:pPr>
            <a:r>
              <a:rPr lang="en-IN" sz="2000" b="1" dirty="0"/>
              <a:t>Data Source: </a:t>
            </a:r>
            <a:r>
              <a:rPr lang="en-IN" sz="2000" dirty="0"/>
              <a:t>Use publicly available datasets such as NSL-KDD or CICIDS2017 for training and testing the IDS.</a:t>
            </a:r>
          </a:p>
          <a:p>
            <a:pPr marL="285750" indent="-285750" algn="just">
              <a:lnSpc>
                <a:spcPct val="150000"/>
              </a:lnSpc>
              <a:buFont typeface="Courier New" panose="02070309020205020404" pitchFamily="49" charset="0"/>
              <a:buChar char="o"/>
            </a:pPr>
            <a:r>
              <a:rPr lang="en-IN" sz="2000" b="1" dirty="0"/>
              <a:t>Techniques: </a:t>
            </a:r>
            <a:r>
              <a:rPr lang="en-IN" sz="2000" dirty="0"/>
              <a:t>Implement classification algorithms (e.g., Random Forest, Decision Tree, XG Boost, or Neural Networks) for intrusion detection.</a:t>
            </a:r>
          </a:p>
        </p:txBody>
      </p:sp>
    </p:spTree>
    <p:extLst>
      <p:ext uri="{BB962C8B-B14F-4D97-AF65-F5344CB8AC3E}">
        <p14:creationId xmlns:p14="http://schemas.microsoft.com/office/powerpoint/2010/main" val="264407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27539BD-FF7C-5991-0180-1BE0A57C2ECC}"/>
              </a:ext>
            </a:extLst>
          </p:cNvPr>
          <p:cNvSpPr txBox="1"/>
          <p:nvPr/>
        </p:nvSpPr>
        <p:spPr>
          <a:xfrm>
            <a:off x="737420" y="493760"/>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Proposed Solution :</a:t>
            </a:r>
          </a:p>
        </p:txBody>
      </p:sp>
      <p:sp>
        <p:nvSpPr>
          <p:cNvPr id="5" name="TextBox 4">
            <a:extLst>
              <a:ext uri="{FF2B5EF4-FFF2-40B4-BE49-F238E27FC236}">
                <a16:creationId xmlns:a16="http://schemas.microsoft.com/office/drawing/2014/main" id="{6402D0B6-1132-276F-D67C-2638CA136B56}"/>
              </a:ext>
            </a:extLst>
          </p:cNvPr>
          <p:cNvSpPr txBox="1"/>
          <p:nvPr/>
        </p:nvSpPr>
        <p:spPr>
          <a:xfrm>
            <a:off x="737420" y="1220242"/>
            <a:ext cx="10923638" cy="2352952"/>
          </a:xfrm>
          <a:prstGeom prst="rect">
            <a:avLst/>
          </a:prstGeom>
          <a:noFill/>
        </p:spPr>
        <p:txBody>
          <a:bodyPr wrap="square">
            <a:spAutoFit/>
          </a:bodyPr>
          <a:lstStyle/>
          <a:p>
            <a:pPr marL="285750" indent="-285750" algn="just">
              <a:lnSpc>
                <a:spcPct val="150000"/>
              </a:lnSpc>
              <a:buFont typeface="Courier New" panose="02070309020205020404" pitchFamily="49" charset="0"/>
              <a:buChar char="o"/>
            </a:pPr>
            <a:r>
              <a:rPr lang="en-IN" sz="2000" dirty="0"/>
              <a:t>The proposed Intrusion Detection System (IDS) will leverage machine learning algorithms to accurately identify and classify network traffic as normal or malicious. The solution involves collecting and preprocessing a publicly available dataset, such as the NSL-KDD or CICIDS2017, which contains labelled network traffic data. Feature selection and extraction techniques will be applied to reduce noise and improve detection efficiency.</a:t>
            </a:r>
          </a:p>
        </p:txBody>
      </p:sp>
      <p:sp>
        <p:nvSpPr>
          <p:cNvPr id="7" name="TextBox 6">
            <a:extLst>
              <a:ext uri="{FF2B5EF4-FFF2-40B4-BE49-F238E27FC236}">
                <a16:creationId xmlns:a16="http://schemas.microsoft.com/office/drawing/2014/main" id="{9DDC8BC0-E1F9-BF78-A5D7-BB85B6E1A0C9}"/>
              </a:ext>
            </a:extLst>
          </p:cNvPr>
          <p:cNvSpPr txBox="1"/>
          <p:nvPr/>
        </p:nvSpPr>
        <p:spPr>
          <a:xfrm>
            <a:off x="737420" y="3861619"/>
            <a:ext cx="10923638" cy="1429622"/>
          </a:xfrm>
          <a:prstGeom prst="rect">
            <a:avLst/>
          </a:prstGeom>
          <a:noFill/>
        </p:spPr>
        <p:txBody>
          <a:bodyPr wrap="square">
            <a:spAutoFit/>
          </a:bodyPr>
          <a:lstStyle/>
          <a:p>
            <a:pPr marL="342900" indent="-342900" algn="just">
              <a:lnSpc>
                <a:spcPct val="150000"/>
              </a:lnSpc>
              <a:buFont typeface="Courier New" panose="02070309020205020404" pitchFamily="49" charset="0"/>
              <a:buChar char="o"/>
            </a:pPr>
            <a:r>
              <a:rPr lang="en-IN" sz="2000" dirty="0"/>
              <a:t>The processed data will be fed into various machine learning models (e.g., Decision Tree, Random Forest, XGBoost) to train and evaluate their performance. The best-performing model will be deployed as the IDS’s core detection engine.</a:t>
            </a:r>
          </a:p>
        </p:txBody>
      </p:sp>
    </p:spTree>
    <p:extLst>
      <p:ext uri="{BB962C8B-B14F-4D97-AF65-F5344CB8AC3E}">
        <p14:creationId xmlns:p14="http://schemas.microsoft.com/office/powerpoint/2010/main" val="18102704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889BD8-F9CF-B33C-C713-7665F6BAF8E2}"/>
              </a:ext>
            </a:extLst>
          </p:cNvPr>
          <p:cNvSpPr txBox="1"/>
          <p:nvPr/>
        </p:nvSpPr>
        <p:spPr>
          <a:xfrm>
            <a:off x="707923" y="670740"/>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Required Technologies: </a:t>
            </a:r>
          </a:p>
        </p:txBody>
      </p:sp>
      <p:sp>
        <p:nvSpPr>
          <p:cNvPr id="5" name="TextBox 4">
            <a:extLst>
              <a:ext uri="{FF2B5EF4-FFF2-40B4-BE49-F238E27FC236}">
                <a16:creationId xmlns:a16="http://schemas.microsoft.com/office/drawing/2014/main" id="{DB4FF4F1-0DC1-19C4-A157-5C9118FCB86F}"/>
              </a:ext>
            </a:extLst>
          </p:cNvPr>
          <p:cNvSpPr txBox="1"/>
          <p:nvPr/>
        </p:nvSpPr>
        <p:spPr>
          <a:xfrm>
            <a:off x="707923" y="1466306"/>
            <a:ext cx="6096000" cy="400110"/>
          </a:xfrm>
          <a:prstGeom prst="rect">
            <a:avLst/>
          </a:prstGeom>
          <a:noFill/>
        </p:spPr>
        <p:txBody>
          <a:bodyPr wrap="square">
            <a:spAutoFit/>
          </a:bodyPr>
          <a:lstStyle/>
          <a:p>
            <a:pPr marL="285750" indent="-285750" algn="just">
              <a:buFont typeface="Courier New" panose="02070309020205020404" pitchFamily="49" charset="0"/>
              <a:buChar char="o"/>
            </a:pPr>
            <a:r>
              <a:rPr lang="en-IN" dirty="0"/>
              <a:t>  </a:t>
            </a:r>
            <a:r>
              <a:rPr lang="en-IN" sz="2000" b="1" dirty="0"/>
              <a:t>Frontend: </a:t>
            </a:r>
            <a:r>
              <a:rPr lang="en-IN" sz="2000" dirty="0"/>
              <a:t>HTML, CSS, JavaScript,React.js</a:t>
            </a:r>
          </a:p>
        </p:txBody>
      </p:sp>
      <p:sp>
        <p:nvSpPr>
          <p:cNvPr id="7" name="TextBox 6">
            <a:extLst>
              <a:ext uri="{FF2B5EF4-FFF2-40B4-BE49-F238E27FC236}">
                <a16:creationId xmlns:a16="http://schemas.microsoft.com/office/drawing/2014/main" id="{4417E5DA-4C93-2B5C-9FE2-D535A10F9CD0}"/>
              </a:ext>
            </a:extLst>
          </p:cNvPr>
          <p:cNvSpPr txBox="1"/>
          <p:nvPr/>
        </p:nvSpPr>
        <p:spPr>
          <a:xfrm>
            <a:off x="707923" y="1954096"/>
            <a:ext cx="6096000" cy="400110"/>
          </a:xfrm>
          <a:prstGeom prst="rect">
            <a:avLst/>
          </a:prstGeom>
          <a:noFill/>
        </p:spPr>
        <p:txBody>
          <a:bodyPr wrap="square">
            <a:spAutoFit/>
          </a:bodyPr>
          <a:lstStyle/>
          <a:p>
            <a:pPr marL="285750" indent="-285750">
              <a:buFont typeface="Courier New" panose="02070309020205020404" pitchFamily="49" charset="0"/>
              <a:buChar char="o"/>
            </a:pPr>
            <a:r>
              <a:rPr lang="en-IN" sz="2000" b="1" dirty="0"/>
              <a:t>⁠  Datasets: </a:t>
            </a:r>
            <a:r>
              <a:rPr lang="en-IN" sz="2000" dirty="0"/>
              <a:t>NSL-KDD or CICIDS2017</a:t>
            </a:r>
          </a:p>
        </p:txBody>
      </p:sp>
      <p:sp>
        <p:nvSpPr>
          <p:cNvPr id="9" name="TextBox 8">
            <a:extLst>
              <a:ext uri="{FF2B5EF4-FFF2-40B4-BE49-F238E27FC236}">
                <a16:creationId xmlns:a16="http://schemas.microsoft.com/office/drawing/2014/main" id="{C94DD33D-62B3-F6CB-4366-B39CB980CAAF}"/>
              </a:ext>
            </a:extLst>
          </p:cNvPr>
          <p:cNvSpPr txBox="1"/>
          <p:nvPr/>
        </p:nvSpPr>
        <p:spPr>
          <a:xfrm>
            <a:off x="707923" y="2459092"/>
            <a:ext cx="6096000" cy="400110"/>
          </a:xfrm>
          <a:prstGeom prst="rect">
            <a:avLst/>
          </a:prstGeom>
          <a:noFill/>
        </p:spPr>
        <p:txBody>
          <a:bodyPr wrap="square">
            <a:spAutoFit/>
          </a:bodyPr>
          <a:lstStyle/>
          <a:p>
            <a:pPr marL="342900" indent="-342900">
              <a:buFont typeface="Courier New" panose="02070309020205020404" pitchFamily="49" charset="0"/>
              <a:buChar char="o"/>
            </a:pPr>
            <a:r>
              <a:rPr lang="en-IN" sz="2000" b="1" dirty="0"/>
              <a:t>Backend Framework: </a:t>
            </a:r>
            <a:r>
              <a:rPr lang="en-IN" sz="2000" dirty="0"/>
              <a:t>Flask or FastAPI</a:t>
            </a:r>
          </a:p>
        </p:txBody>
      </p:sp>
      <p:sp>
        <p:nvSpPr>
          <p:cNvPr id="11" name="TextBox 10">
            <a:extLst>
              <a:ext uri="{FF2B5EF4-FFF2-40B4-BE49-F238E27FC236}">
                <a16:creationId xmlns:a16="http://schemas.microsoft.com/office/drawing/2014/main" id="{1909B82F-B9AF-4E15-6242-518B1E3CF9B4}"/>
              </a:ext>
            </a:extLst>
          </p:cNvPr>
          <p:cNvSpPr txBox="1"/>
          <p:nvPr/>
        </p:nvSpPr>
        <p:spPr>
          <a:xfrm>
            <a:off x="707923" y="2964088"/>
            <a:ext cx="10127225" cy="400110"/>
          </a:xfrm>
          <a:prstGeom prst="rect">
            <a:avLst/>
          </a:prstGeom>
          <a:noFill/>
        </p:spPr>
        <p:txBody>
          <a:bodyPr wrap="square">
            <a:spAutoFit/>
          </a:bodyPr>
          <a:lstStyle/>
          <a:p>
            <a:pPr marL="342900" indent="-342900">
              <a:buFont typeface="Courier New" panose="02070309020205020404" pitchFamily="49" charset="0"/>
              <a:buChar char="o"/>
            </a:pPr>
            <a:r>
              <a:rPr lang="en-IN" sz="2000" b="1" dirty="0"/>
              <a:t>AI/ML: </a:t>
            </a:r>
            <a:r>
              <a:rPr lang="en-IN" sz="2000" dirty="0"/>
              <a:t>Python (Scikit-learn / TensorFlow / PyTorch for anomaly detection &amp; classification)</a:t>
            </a:r>
          </a:p>
        </p:txBody>
      </p:sp>
      <p:sp>
        <p:nvSpPr>
          <p:cNvPr id="13" name="TextBox 12">
            <a:extLst>
              <a:ext uri="{FF2B5EF4-FFF2-40B4-BE49-F238E27FC236}">
                <a16:creationId xmlns:a16="http://schemas.microsoft.com/office/drawing/2014/main" id="{EECA9907-DC78-BE1A-361D-AA91CE336787}"/>
              </a:ext>
            </a:extLst>
          </p:cNvPr>
          <p:cNvSpPr txBox="1"/>
          <p:nvPr/>
        </p:nvSpPr>
        <p:spPr>
          <a:xfrm>
            <a:off x="707923" y="3469084"/>
            <a:ext cx="6096000" cy="400110"/>
          </a:xfrm>
          <a:prstGeom prst="rect">
            <a:avLst/>
          </a:prstGeom>
          <a:noFill/>
        </p:spPr>
        <p:txBody>
          <a:bodyPr wrap="square">
            <a:spAutoFit/>
          </a:bodyPr>
          <a:lstStyle/>
          <a:p>
            <a:pPr marL="342900" indent="-342900">
              <a:buFont typeface="Courier New" panose="02070309020205020404" pitchFamily="49" charset="0"/>
              <a:buChar char="o"/>
            </a:pPr>
            <a:r>
              <a:rPr lang="en-IN" sz="2000" b="1" dirty="0"/>
              <a:t>Networking and Testing Tools : </a:t>
            </a:r>
            <a:r>
              <a:rPr lang="en-IN" sz="2000" dirty="0"/>
              <a:t>Wireshark, Scapy</a:t>
            </a:r>
          </a:p>
        </p:txBody>
      </p:sp>
    </p:spTree>
    <p:extLst>
      <p:ext uri="{BB962C8B-B14F-4D97-AF65-F5344CB8AC3E}">
        <p14:creationId xmlns:p14="http://schemas.microsoft.com/office/powerpoint/2010/main" val="1037553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69A98B-51B1-B0CC-153D-79668F40A87A}"/>
              </a:ext>
            </a:extLst>
          </p:cNvPr>
          <p:cNvSpPr txBox="1"/>
          <p:nvPr/>
        </p:nvSpPr>
        <p:spPr>
          <a:xfrm>
            <a:off x="776747" y="564373"/>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Expected Outcome:</a:t>
            </a:r>
          </a:p>
        </p:txBody>
      </p:sp>
      <p:sp>
        <p:nvSpPr>
          <p:cNvPr id="4" name="TextBox 3">
            <a:extLst>
              <a:ext uri="{FF2B5EF4-FFF2-40B4-BE49-F238E27FC236}">
                <a16:creationId xmlns:a16="http://schemas.microsoft.com/office/drawing/2014/main" id="{EB206A8C-32F2-472C-EAEB-5D6EA00F4D31}"/>
              </a:ext>
            </a:extLst>
          </p:cNvPr>
          <p:cNvSpPr txBox="1"/>
          <p:nvPr/>
        </p:nvSpPr>
        <p:spPr>
          <a:xfrm>
            <a:off x="776747" y="1294070"/>
            <a:ext cx="10854814" cy="3276282"/>
          </a:xfrm>
          <a:prstGeom prst="rect">
            <a:avLst/>
          </a:prstGeom>
          <a:noFill/>
        </p:spPr>
        <p:txBody>
          <a:bodyPr wrap="square">
            <a:spAutoFit/>
          </a:bodyPr>
          <a:lstStyle/>
          <a:p>
            <a:pPr marL="342900" indent="-342900" algn="just">
              <a:lnSpc>
                <a:spcPct val="150000"/>
              </a:lnSpc>
              <a:buFont typeface="Courier New" panose="02070309020205020404" pitchFamily="49" charset="0"/>
              <a:buChar char="o"/>
            </a:pPr>
            <a:r>
              <a:rPr lang="en-IN" sz="2000" b="1" dirty="0"/>
              <a:t>Accurate Threat Detection : </a:t>
            </a:r>
            <a:r>
              <a:rPr lang="en-IN" sz="2000" dirty="0"/>
              <a:t>The system identifies and flags malicious network activities in real-time with high precision. </a:t>
            </a:r>
          </a:p>
          <a:p>
            <a:pPr marL="342900" indent="-342900" algn="just">
              <a:lnSpc>
                <a:spcPct val="150000"/>
              </a:lnSpc>
              <a:buFont typeface="Courier New" panose="02070309020205020404" pitchFamily="49" charset="0"/>
              <a:buChar char="o"/>
            </a:pPr>
            <a:r>
              <a:rPr lang="en-IN" sz="2000" b="1" dirty="0"/>
              <a:t>User-Friendly Interface :  </a:t>
            </a:r>
            <a:r>
              <a:rPr lang="en-IN" sz="2000" dirty="0"/>
              <a:t>A clear, interactive dashboard for monitoring alerts and viewing system status.</a:t>
            </a:r>
          </a:p>
          <a:p>
            <a:pPr marL="342900" indent="-342900" algn="just">
              <a:lnSpc>
                <a:spcPct val="150000"/>
              </a:lnSpc>
              <a:buFont typeface="Courier New" panose="02070309020205020404" pitchFamily="49" charset="0"/>
              <a:buChar char="o"/>
            </a:pPr>
            <a:r>
              <a:rPr lang="en-IN" sz="2000" b="1" dirty="0"/>
              <a:t>Improved Network Security :  </a:t>
            </a:r>
            <a:r>
              <a:rPr lang="en-IN" sz="2000" dirty="0"/>
              <a:t>Strengthens defence mechanisms by enabling proactive response to threats.</a:t>
            </a:r>
          </a:p>
          <a:p>
            <a:pPr marL="342900" indent="-342900" algn="just">
              <a:lnSpc>
                <a:spcPct val="150000"/>
              </a:lnSpc>
              <a:buFont typeface="Courier New" panose="02070309020205020404" pitchFamily="49" charset="0"/>
              <a:buChar char="o"/>
            </a:pPr>
            <a:r>
              <a:rPr lang="en-IN" sz="2000" b="1" dirty="0"/>
              <a:t>Customizable Detection Rules : </a:t>
            </a:r>
            <a:r>
              <a:rPr lang="en-IN" sz="2000" dirty="0"/>
              <a:t>Allows administrators to adapt the system to evolving cyber threats.</a:t>
            </a:r>
          </a:p>
        </p:txBody>
      </p:sp>
    </p:spTree>
    <p:extLst>
      <p:ext uri="{BB962C8B-B14F-4D97-AF65-F5344CB8AC3E}">
        <p14:creationId xmlns:p14="http://schemas.microsoft.com/office/powerpoint/2010/main" val="32986683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6A0F362-9973-610D-B09B-CD18D0AB40B4}"/>
              </a:ext>
            </a:extLst>
          </p:cNvPr>
          <p:cNvGraphicFramePr>
            <a:graphicFrameLocks noGrp="1"/>
          </p:cNvGraphicFramePr>
          <p:nvPr>
            <p:extLst>
              <p:ext uri="{D42A27DB-BD31-4B8C-83A1-F6EECF244321}">
                <p14:modId xmlns:p14="http://schemas.microsoft.com/office/powerpoint/2010/main" val="554587017"/>
              </p:ext>
            </p:extLst>
          </p:nvPr>
        </p:nvGraphicFramePr>
        <p:xfrm>
          <a:off x="388375" y="963560"/>
          <a:ext cx="11415250" cy="5562718"/>
        </p:xfrm>
        <a:graphic>
          <a:graphicData uri="http://schemas.openxmlformats.org/drawingml/2006/table">
            <a:tbl>
              <a:tblPr firstRow="1" bandRow="1">
                <a:tableStyleId>{5C22544A-7EE6-4342-B048-85BDC9FD1C3A}</a:tableStyleId>
              </a:tblPr>
              <a:tblGrid>
                <a:gridCol w="2283050">
                  <a:extLst>
                    <a:ext uri="{9D8B030D-6E8A-4147-A177-3AD203B41FA5}">
                      <a16:colId xmlns:a16="http://schemas.microsoft.com/office/drawing/2014/main" val="2885194955"/>
                    </a:ext>
                  </a:extLst>
                </a:gridCol>
                <a:gridCol w="2283050">
                  <a:extLst>
                    <a:ext uri="{9D8B030D-6E8A-4147-A177-3AD203B41FA5}">
                      <a16:colId xmlns:a16="http://schemas.microsoft.com/office/drawing/2014/main" val="764190345"/>
                    </a:ext>
                  </a:extLst>
                </a:gridCol>
                <a:gridCol w="2283050">
                  <a:extLst>
                    <a:ext uri="{9D8B030D-6E8A-4147-A177-3AD203B41FA5}">
                      <a16:colId xmlns:a16="http://schemas.microsoft.com/office/drawing/2014/main" val="962595616"/>
                    </a:ext>
                  </a:extLst>
                </a:gridCol>
                <a:gridCol w="2283050">
                  <a:extLst>
                    <a:ext uri="{9D8B030D-6E8A-4147-A177-3AD203B41FA5}">
                      <a16:colId xmlns:a16="http://schemas.microsoft.com/office/drawing/2014/main" val="1084330889"/>
                    </a:ext>
                  </a:extLst>
                </a:gridCol>
                <a:gridCol w="2283050">
                  <a:extLst>
                    <a:ext uri="{9D8B030D-6E8A-4147-A177-3AD203B41FA5}">
                      <a16:colId xmlns:a16="http://schemas.microsoft.com/office/drawing/2014/main" val="2122998071"/>
                    </a:ext>
                  </a:extLst>
                </a:gridCol>
              </a:tblGrid>
              <a:tr h="1087728">
                <a:tc>
                  <a:txBody>
                    <a:bodyPr/>
                    <a:lstStyle/>
                    <a:p>
                      <a:pPr>
                        <a:buNone/>
                      </a:pPr>
                      <a:r>
                        <a:rPr lang="en-IN" sz="2400" b="1" dirty="0"/>
                        <a:t>          Title</a:t>
                      </a:r>
                      <a:endParaRPr lang="en-IN" sz="2400" dirty="0"/>
                    </a:p>
                  </a:txBody>
                  <a:tcPr anchor="ctr"/>
                </a:tc>
                <a:tc>
                  <a:txBody>
                    <a:bodyPr/>
                    <a:lstStyle/>
                    <a:p>
                      <a:endParaRPr lang="en-IN" dirty="0"/>
                    </a:p>
                    <a:p>
                      <a:r>
                        <a:rPr lang="en-IN" sz="2400" dirty="0"/>
                        <a:t>     Authors</a:t>
                      </a:r>
                    </a:p>
                  </a:txBody>
                  <a:tcPr/>
                </a:tc>
                <a:tc>
                  <a:txBody>
                    <a:bodyPr/>
                    <a:lstStyle/>
                    <a:p>
                      <a:endParaRPr lang="en-IN" dirty="0"/>
                    </a:p>
                    <a:p>
                      <a:r>
                        <a:rPr lang="en-IN" dirty="0"/>
                        <a:t>    </a:t>
                      </a:r>
                      <a:r>
                        <a:rPr lang="en-IN" sz="2400" dirty="0"/>
                        <a:t>Methodology</a:t>
                      </a:r>
                    </a:p>
                  </a:txBody>
                  <a:tcPr/>
                </a:tc>
                <a:tc>
                  <a:txBody>
                    <a:bodyPr/>
                    <a:lstStyle/>
                    <a:p>
                      <a:endParaRPr lang="en-IN" dirty="0"/>
                    </a:p>
                    <a:p>
                      <a:r>
                        <a:rPr lang="en-IN" sz="2400" dirty="0"/>
                        <a:t>   Advantages</a:t>
                      </a:r>
                    </a:p>
                  </a:txBody>
                  <a:tcPr/>
                </a:tc>
                <a:tc>
                  <a:txBody>
                    <a:bodyPr/>
                    <a:lstStyle/>
                    <a:p>
                      <a:endParaRPr lang="en-IN" dirty="0"/>
                    </a:p>
                    <a:p>
                      <a:r>
                        <a:rPr lang="en-IN" sz="2400" dirty="0"/>
                        <a:t>Disadvantages</a:t>
                      </a:r>
                    </a:p>
                  </a:txBody>
                  <a:tcPr/>
                </a:tc>
                <a:extLst>
                  <a:ext uri="{0D108BD9-81ED-4DB2-BD59-A6C34878D82A}">
                    <a16:rowId xmlns:a16="http://schemas.microsoft.com/office/drawing/2014/main" val="221830733"/>
                  </a:ext>
                </a:extLst>
              </a:tr>
              <a:tr h="908222">
                <a:tc>
                  <a:txBody>
                    <a:bodyPr/>
                    <a:lstStyle/>
                    <a:p>
                      <a:r>
                        <a:rPr lang="en-US" dirty="0"/>
                        <a:t>Intrusion Detection using Machine Learning Techniques: An Experimental Comparison. (2021)</a:t>
                      </a:r>
                      <a:endParaRPr lang="en-IN" dirty="0"/>
                    </a:p>
                  </a:txBody>
                  <a:tcPr/>
                </a:tc>
                <a:tc>
                  <a:txBody>
                    <a:bodyPr/>
                    <a:lstStyle/>
                    <a:p>
                      <a:r>
                        <a:rPr lang="en-IN" dirty="0"/>
                        <a:t>Kathryn-Ann Tait, Jan Sher Khan, Fehaid Alqahtani, Awais Aziz Shah, Fadia Ali Khan, Mujeeb Ur Rehman, Wadii Boulila, Jawad Ahmad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Experimental comparison of various machine learning algorithms for IDS.</a:t>
                      </a:r>
                      <a:endParaRPr lang="en-IN" dirty="0"/>
                    </a:p>
                    <a:p>
                      <a:pPr>
                        <a:buNone/>
                      </a:pPr>
                      <a:endParaRPr lang="en-IN" dirty="0"/>
                    </a:p>
                  </a:txBody>
                  <a:tcPr anchor="ctr"/>
                </a:tc>
                <a:tc>
                  <a:txBody>
                    <a:bodyPr/>
                    <a:lstStyle/>
                    <a:p>
                      <a:r>
                        <a:rPr lang="en-US" dirty="0"/>
                        <a:t>High accuracy in binary classification; multiclass classification provides detailed attack differentiation.</a:t>
                      </a:r>
                      <a:endParaRPr lang="en-IN" dirty="0"/>
                    </a:p>
                  </a:txBody>
                  <a:tcPr/>
                </a:tc>
                <a:tc>
                  <a:txBody>
                    <a:bodyPr/>
                    <a:lstStyle/>
                    <a:p>
                      <a:r>
                        <a:rPr lang="en-US" dirty="0"/>
                        <a:t>Selection of appropriate algorithm can be challenging; performance varies across different datasets.</a:t>
                      </a:r>
                      <a:endParaRPr lang="en-IN" dirty="0"/>
                    </a:p>
                  </a:txBody>
                  <a:tcPr/>
                </a:tc>
                <a:extLst>
                  <a:ext uri="{0D108BD9-81ED-4DB2-BD59-A6C34878D82A}">
                    <a16:rowId xmlns:a16="http://schemas.microsoft.com/office/drawing/2014/main" val="4038488662"/>
                  </a:ext>
                </a:extLst>
              </a:tr>
              <a:tr h="2463310">
                <a:tc>
                  <a:txBody>
                    <a:bodyPr/>
                    <a:lstStyle/>
                    <a:p>
                      <a:r>
                        <a:rPr lang="en-US" dirty="0"/>
                        <a:t>A Hybrid Framework for Intrusion Detection in Healthcare. (2022)</a:t>
                      </a:r>
                      <a:endParaRPr lang="en-IN" dirty="0"/>
                    </a:p>
                  </a:txBody>
                  <a:tcPr/>
                </a:tc>
                <a:tc>
                  <a:txBody>
                    <a:bodyPr/>
                    <a:lstStyle/>
                    <a:p>
                      <a:r>
                        <a:rPr lang="en-IN" dirty="0"/>
                        <a:t>MA Kumaar, et al.</a:t>
                      </a:r>
                    </a:p>
                  </a:txBody>
                  <a:tcPr/>
                </a:tc>
                <a:tc>
                  <a:txBody>
                    <a:bodyPr/>
                    <a:lstStyle/>
                    <a:p>
                      <a:r>
                        <a:rPr lang="en-US" dirty="0"/>
                        <a:t>Proposed "ImmuneNet," a deep learning-based hybrid framework for IDS in healthcare.</a:t>
                      </a:r>
                      <a:endParaRPr lang="en-IN" dirty="0"/>
                    </a:p>
                  </a:txBody>
                  <a:tcPr/>
                </a:tc>
                <a:tc>
                  <a:txBody>
                    <a:bodyPr/>
                    <a:lstStyle/>
                    <a:p>
                      <a:r>
                        <a:rPr lang="en-US" dirty="0"/>
                        <a:t>Enhanced detection of latest intrusion attacks; tailored for healthcare data security.</a:t>
                      </a:r>
                      <a:endParaRPr lang="en-IN" dirty="0"/>
                    </a:p>
                  </a:txBody>
                  <a:tcPr/>
                </a:tc>
                <a:tc>
                  <a:txBody>
                    <a:bodyPr/>
                    <a:lstStyle/>
                    <a:p>
                      <a:r>
                        <a:rPr lang="en-US" dirty="0"/>
                        <a:t>High computational requirements; may require specialized hardware.</a:t>
                      </a:r>
                      <a:endParaRPr lang="en-IN" dirty="0"/>
                    </a:p>
                  </a:txBody>
                  <a:tcPr/>
                </a:tc>
                <a:extLst>
                  <a:ext uri="{0D108BD9-81ED-4DB2-BD59-A6C34878D82A}">
                    <a16:rowId xmlns:a16="http://schemas.microsoft.com/office/drawing/2014/main" val="756767038"/>
                  </a:ext>
                </a:extLst>
              </a:tr>
            </a:tbl>
          </a:graphicData>
        </a:graphic>
      </p:graphicFrame>
      <p:sp>
        <p:nvSpPr>
          <p:cNvPr id="5" name="TextBox 4">
            <a:extLst>
              <a:ext uri="{FF2B5EF4-FFF2-40B4-BE49-F238E27FC236}">
                <a16:creationId xmlns:a16="http://schemas.microsoft.com/office/drawing/2014/main" id="{67BAC927-D8FB-0ABD-CB04-F104C0EC5282}"/>
              </a:ext>
            </a:extLst>
          </p:cNvPr>
          <p:cNvSpPr txBox="1"/>
          <p:nvPr/>
        </p:nvSpPr>
        <p:spPr>
          <a:xfrm>
            <a:off x="388375" y="275303"/>
            <a:ext cx="3834581"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Literature Survey:</a:t>
            </a:r>
          </a:p>
        </p:txBody>
      </p:sp>
    </p:spTree>
    <p:extLst>
      <p:ext uri="{BB962C8B-B14F-4D97-AF65-F5344CB8AC3E}">
        <p14:creationId xmlns:p14="http://schemas.microsoft.com/office/powerpoint/2010/main" val="620613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6AAA1A48-5ED1-61CA-B04C-F13AE32D1CAF}"/>
              </a:ext>
            </a:extLst>
          </p:cNvPr>
          <p:cNvGraphicFramePr>
            <a:graphicFrameLocks noGrp="1"/>
          </p:cNvGraphicFramePr>
          <p:nvPr>
            <p:extLst>
              <p:ext uri="{D42A27DB-BD31-4B8C-83A1-F6EECF244321}">
                <p14:modId xmlns:p14="http://schemas.microsoft.com/office/powerpoint/2010/main" val="2102632074"/>
              </p:ext>
            </p:extLst>
          </p:nvPr>
        </p:nvGraphicFramePr>
        <p:xfrm>
          <a:off x="403122" y="621341"/>
          <a:ext cx="11385755" cy="5523819"/>
        </p:xfrm>
        <a:graphic>
          <a:graphicData uri="http://schemas.openxmlformats.org/drawingml/2006/table">
            <a:tbl>
              <a:tblPr firstRow="1" bandRow="1">
                <a:tableStyleId>{5C22544A-7EE6-4342-B048-85BDC9FD1C3A}</a:tableStyleId>
              </a:tblPr>
              <a:tblGrid>
                <a:gridCol w="2277151">
                  <a:extLst>
                    <a:ext uri="{9D8B030D-6E8A-4147-A177-3AD203B41FA5}">
                      <a16:colId xmlns:a16="http://schemas.microsoft.com/office/drawing/2014/main" val="1493503974"/>
                    </a:ext>
                  </a:extLst>
                </a:gridCol>
                <a:gridCol w="2277151">
                  <a:extLst>
                    <a:ext uri="{9D8B030D-6E8A-4147-A177-3AD203B41FA5}">
                      <a16:colId xmlns:a16="http://schemas.microsoft.com/office/drawing/2014/main" val="1802423282"/>
                    </a:ext>
                  </a:extLst>
                </a:gridCol>
                <a:gridCol w="2277151">
                  <a:extLst>
                    <a:ext uri="{9D8B030D-6E8A-4147-A177-3AD203B41FA5}">
                      <a16:colId xmlns:a16="http://schemas.microsoft.com/office/drawing/2014/main" val="1674618219"/>
                    </a:ext>
                  </a:extLst>
                </a:gridCol>
                <a:gridCol w="2277151">
                  <a:extLst>
                    <a:ext uri="{9D8B030D-6E8A-4147-A177-3AD203B41FA5}">
                      <a16:colId xmlns:a16="http://schemas.microsoft.com/office/drawing/2014/main" val="4078058091"/>
                    </a:ext>
                  </a:extLst>
                </a:gridCol>
                <a:gridCol w="2277151">
                  <a:extLst>
                    <a:ext uri="{9D8B030D-6E8A-4147-A177-3AD203B41FA5}">
                      <a16:colId xmlns:a16="http://schemas.microsoft.com/office/drawing/2014/main" val="3416794464"/>
                    </a:ext>
                  </a:extLst>
                </a:gridCol>
              </a:tblGrid>
              <a:tr h="1284250">
                <a:tc>
                  <a:txBody>
                    <a:bodyPr/>
                    <a:lstStyle/>
                    <a:p>
                      <a:r>
                        <a:rPr lang="en-IN" sz="2400" b="1" dirty="0"/>
                        <a:t> </a:t>
                      </a:r>
                    </a:p>
                    <a:p>
                      <a:r>
                        <a:rPr lang="en-IN" sz="2400" b="1" dirty="0"/>
                        <a:t>         Title</a:t>
                      </a:r>
                      <a:endParaRPr lang="en-IN" sz="2400" dirty="0"/>
                    </a:p>
                  </a:txBody>
                  <a:tcPr/>
                </a:tc>
                <a:tc>
                  <a:txBody>
                    <a:bodyPr/>
                    <a:lstStyle/>
                    <a:p>
                      <a:endParaRPr lang="en-IN" sz="2400" dirty="0"/>
                    </a:p>
                    <a:p>
                      <a:r>
                        <a:rPr lang="en-IN" sz="2400" dirty="0"/>
                        <a:t>     Authors</a:t>
                      </a:r>
                    </a:p>
                  </a:txBody>
                  <a:tcPr/>
                </a:tc>
                <a:tc>
                  <a:txBody>
                    <a:bodyPr/>
                    <a:lstStyle/>
                    <a:p>
                      <a:endParaRPr lang="en-IN" sz="2400" dirty="0"/>
                    </a:p>
                    <a:p>
                      <a:r>
                        <a:rPr lang="en-IN" sz="2400" dirty="0"/>
                        <a:t>  Methodology</a:t>
                      </a:r>
                    </a:p>
                  </a:txBody>
                  <a:tcPr/>
                </a:tc>
                <a:tc>
                  <a:txBody>
                    <a:bodyPr/>
                    <a:lstStyle/>
                    <a:p>
                      <a:endParaRPr lang="en-IN" sz="2400" dirty="0"/>
                    </a:p>
                    <a:p>
                      <a:r>
                        <a:rPr lang="en-IN" sz="2400" dirty="0"/>
                        <a:t>    Advantages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24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t> Disadvantages</a:t>
                      </a:r>
                    </a:p>
                    <a:p>
                      <a:endParaRPr lang="en-IN" dirty="0"/>
                    </a:p>
                  </a:txBody>
                  <a:tcPr/>
                </a:tc>
                <a:extLst>
                  <a:ext uri="{0D108BD9-81ED-4DB2-BD59-A6C34878D82A}">
                    <a16:rowId xmlns:a16="http://schemas.microsoft.com/office/drawing/2014/main" val="1484097514"/>
                  </a:ext>
                </a:extLst>
              </a:tr>
              <a:tr h="202791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chemeClr val="bg2">
                            <a:lumMod val="1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chemeClr val="bg2">
                              <a:lumMod val="10000"/>
                            </a:schemeClr>
                          </a:solidFill>
                        </a:rPr>
                        <a:t>Toward Deep Learning based Intrusion Detection System. (2024)</a:t>
                      </a:r>
                      <a:endParaRPr lang="en-IN" b="0" dirty="0">
                        <a:solidFill>
                          <a:schemeClr val="bg2">
                            <a:lumMod val="10000"/>
                          </a:schemeClr>
                        </a:solidFill>
                      </a:endParaRPr>
                    </a:p>
                    <a:p>
                      <a:endParaRPr lang="en-IN" dirty="0"/>
                    </a:p>
                  </a:txBody>
                  <a:tcPr/>
                </a:tc>
                <a:tc>
                  <a:txBody>
                    <a:bodyPr/>
                    <a:lstStyle/>
                    <a:p>
                      <a:endParaRPr lang="en-US" b="0" dirty="0">
                        <a:solidFill>
                          <a:schemeClr val="bg2">
                            <a:lumMod val="10000"/>
                          </a:schemeClr>
                        </a:solidFill>
                      </a:endParaRPr>
                    </a:p>
                    <a:p>
                      <a:endParaRPr lang="en-US" b="0" dirty="0">
                        <a:solidFill>
                          <a:schemeClr val="bg2">
                            <a:lumMod val="10000"/>
                          </a:schemeClr>
                        </a:solidFill>
                      </a:endParaRPr>
                    </a:p>
                    <a:p>
                      <a:r>
                        <a:rPr lang="en-US" b="0" dirty="0">
                          <a:solidFill>
                            <a:schemeClr val="bg2">
                              <a:lumMod val="10000"/>
                            </a:schemeClr>
                          </a:solidFill>
                        </a:rPr>
                        <a:t>             Z Li</a:t>
                      </a:r>
                      <a:endParaRPr lang="en-IN" b="0" dirty="0">
                        <a:solidFill>
                          <a:schemeClr val="bg2">
                            <a:lumMod val="10000"/>
                          </a:schemeClr>
                        </a:solidFill>
                      </a:endParaRPr>
                    </a:p>
                  </a:txBody>
                  <a:tcPr/>
                </a:tc>
                <a:tc>
                  <a:txBody>
                    <a:bodyPr/>
                    <a:lstStyle/>
                    <a:p>
                      <a:endParaRPr lang="en-US" b="0" dirty="0">
                        <a:solidFill>
                          <a:schemeClr val="bg2">
                            <a:lumMod val="10000"/>
                          </a:schemeClr>
                        </a:solidFill>
                      </a:endParaRPr>
                    </a:p>
                    <a:p>
                      <a:endParaRPr lang="en-US" b="0" dirty="0">
                        <a:solidFill>
                          <a:schemeClr val="bg2">
                            <a:lumMod val="10000"/>
                          </a:schemeClr>
                        </a:solidFill>
                      </a:endParaRPr>
                    </a:p>
                    <a:p>
                      <a:r>
                        <a:rPr lang="en-US" b="0" dirty="0">
                          <a:solidFill>
                            <a:schemeClr val="bg2">
                              <a:lumMod val="10000"/>
                            </a:schemeClr>
                          </a:solidFill>
                        </a:rPr>
                        <a:t>Exploration of deep learning techniques for IDS development.</a:t>
                      </a:r>
                      <a:endParaRPr lang="en-IN" b="0" dirty="0">
                        <a:solidFill>
                          <a:schemeClr val="bg2">
                            <a:lumMod val="10000"/>
                          </a:schemeClr>
                        </a:solidFill>
                      </a:endParaRPr>
                    </a:p>
                  </a:txBody>
                  <a:tcPr/>
                </a:tc>
                <a:tc>
                  <a:txBody>
                    <a:bodyPr/>
                    <a:lstStyle/>
                    <a:p>
                      <a:endParaRPr lang="en-US" b="0" dirty="0">
                        <a:solidFill>
                          <a:schemeClr val="bg2">
                            <a:lumMod val="10000"/>
                          </a:schemeClr>
                        </a:solidFill>
                      </a:endParaRPr>
                    </a:p>
                    <a:p>
                      <a:endParaRPr lang="en-US" b="0" dirty="0">
                        <a:solidFill>
                          <a:schemeClr val="bg2">
                            <a:lumMod val="10000"/>
                          </a:schemeClr>
                        </a:solidFill>
                      </a:endParaRPr>
                    </a:p>
                    <a:p>
                      <a:r>
                        <a:rPr lang="en-US" b="0" dirty="0">
                          <a:solidFill>
                            <a:schemeClr val="bg2">
                              <a:lumMod val="10000"/>
                            </a:schemeClr>
                          </a:solidFill>
                        </a:rPr>
                        <a:t>Potential for high detection accuracy; adaptability to evolving threats.</a:t>
                      </a:r>
                      <a:endParaRPr lang="en-IN" b="0" dirty="0">
                        <a:solidFill>
                          <a:schemeClr val="bg2">
                            <a:lumMod val="10000"/>
                          </a:schemeClr>
                        </a:solidFill>
                      </a:endParaRPr>
                    </a:p>
                  </a:txBody>
                  <a:tcPr/>
                </a:tc>
                <a:tc>
                  <a:txBody>
                    <a:bodyPr/>
                    <a:lstStyle/>
                    <a:p>
                      <a:endParaRPr lang="en-US" b="0" dirty="0">
                        <a:solidFill>
                          <a:schemeClr val="bg2">
                            <a:lumMod val="10000"/>
                          </a:schemeClr>
                        </a:solidFill>
                      </a:endParaRPr>
                    </a:p>
                    <a:p>
                      <a:endParaRPr lang="en-US" b="0" dirty="0">
                        <a:solidFill>
                          <a:schemeClr val="bg2">
                            <a:lumMod val="10000"/>
                          </a:schemeClr>
                        </a:solidFill>
                      </a:endParaRPr>
                    </a:p>
                    <a:p>
                      <a:r>
                        <a:rPr lang="en-US" b="0" dirty="0">
                          <a:solidFill>
                            <a:schemeClr val="bg2">
                              <a:lumMod val="10000"/>
                            </a:schemeClr>
                          </a:solidFill>
                        </a:rPr>
                        <a:t>Requires large labeled datasets; training deep models can be resource-intensive.</a:t>
                      </a:r>
                      <a:endParaRPr lang="en-IN" b="0" dirty="0">
                        <a:solidFill>
                          <a:schemeClr val="bg2">
                            <a:lumMod val="10000"/>
                          </a:schemeClr>
                        </a:solidFill>
                      </a:endParaRPr>
                    </a:p>
                  </a:txBody>
                  <a:tcPr/>
                </a:tc>
                <a:extLst>
                  <a:ext uri="{0D108BD9-81ED-4DB2-BD59-A6C34878D82A}">
                    <a16:rowId xmlns:a16="http://schemas.microsoft.com/office/drawing/2014/main" val="3897142055"/>
                  </a:ext>
                </a:extLst>
              </a:tr>
              <a:tr h="2211657">
                <a:tc>
                  <a:txBody>
                    <a:bodyPr/>
                    <a:lstStyle/>
                    <a:p>
                      <a:r>
                        <a:rPr lang="en-US" dirty="0"/>
                        <a:t> </a:t>
                      </a:r>
                    </a:p>
                    <a:p>
                      <a:r>
                        <a:rPr lang="en-US" dirty="0"/>
                        <a:t>Federated Learning in Intrusion Detection: Advancements, Challenges, and Future Directions. (2025)</a:t>
                      </a:r>
                      <a:endParaRPr lang="en-IN" dirty="0"/>
                    </a:p>
                  </a:txBody>
                  <a:tcPr/>
                </a:tc>
                <a:tc>
                  <a:txBody>
                    <a:bodyPr/>
                    <a:lstStyle/>
                    <a:p>
                      <a:endParaRPr lang="en-IN" dirty="0"/>
                    </a:p>
                    <a:p>
                      <a:endParaRPr lang="en-IN" dirty="0"/>
                    </a:p>
                    <a:p>
                      <a:r>
                        <a:rPr lang="en-IN" dirty="0"/>
                        <a:t>    B Buyuktanir, et al.</a:t>
                      </a:r>
                    </a:p>
                  </a:txBody>
                  <a:tcPr/>
                </a:tc>
                <a:tc>
                  <a:txBody>
                    <a:bodyPr/>
                    <a:lstStyle/>
                    <a:p>
                      <a:endParaRPr lang="en-US" dirty="0"/>
                    </a:p>
                    <a:p>
                      <a:r>
                        <a:rPr lang="en-US" dirty="0"/>
                        <a:t>Review of federated learning applications in IDS.</a:t>
                      </a:r>
                      <a:endParaRPr lang="en-IN" dirty="0"/>
                    </a:p>
                  </a:txBody>
                  <a:tcPr/>
                </a:tc>
                <a:tc>
                  <a:txBody>
                    <a:bodyPr/>
                    <a:lstStyle/>
                    <a:p>
                      <a:endParaRPr lang="en-US" dirty="0"/>
                    </a:p>
                    <a:p>
                      <a:r>
                        <a:rPr lang="en-US" dirty="0"/>
                        <a:t>Enhances privacy by keeping data localized; reduces data transmission overhead.</a:t>
                      </a:r>
                      <a:endParaRPr lang="en-IN" dirty="0"/>
                    </a:p>
                  </a:txBody>
                  <a:tcPr/>
                </a:tc>
                <a:tc>
                  <a:txBody>
                    <a:bodyPr/>
                    <a:lstStyle/>
                    <a:p>
                      <a:pPr>
                        <a:buNone/>
                      </a:pPr>
                      <a:r>
                        <a:rPr lang="en-US" dirty="0"/>
                        <a:t>Complexity in model aggregation; potential issues with data heterogeneity.</a:t>
                      </a:r>
                    </a:p>
                  </a:txBody>
                  <a:tcPr anchor="ctr"/>
                </a:tc>
                <a:extLst>
                  <a:ext uri="{0D108BD9-81ED-4DB2-BD59-A6C34878D82A}">
                    <a16:rowId xmlns:a16="http://schemas.microsoft.com/office/drawing/2014/main" val="3280868491"/>
                  </a:ext>
                </a:extLst>
              </a:tr>
            </a:tbl>
          </a:graphicData>
        </a:graphic>
      </p:graphicFrame>
    </p:spTree>
    <p:extLst>
      <p:ext uri="{BB962C8B-B14F-4D97-AF65-F5344CB8AC3E}">
        <p14:creationId xmlns:p14="http://schemas.microsoft.com/office/powerpoint/2010/main" val="3447459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496179F-71D6-D046-573B-E98C7ABE89D4}"/>
              </a:ext>
            </a:extLst>
          </p:cNvPr>
          <p:cNvSpPr txBox="1"/>
          <p:nvPr/>
        </p:nvSpPr>
        <p:spPr>
          <a:xfrm>
            <a:off x="648929" y="464263"/>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System Architecture :</a:t>
            </a:r>
          </a:p>
        </p:txBody>
      </p:sp>
      <p:pic>
        <p:nvPicPr>
          <p:cNvPr id="3" name="Picture 2">
            <a:extLst>
              <a:ext uri="{FF2B5EF4-FFF2-40B4-BE49-F238E27FC236}">
                <a16:creationId xmlns:a16="http://schemas.microsoft.com/office/drawing/2014/main" id="{8D94685D-DB1F-52D0-728E-B98F6F82E4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71253" y="1179872"/>
            <a:ext cx="5860025" cy="5319252"/>
          </a:xfrm>
          <a:prstGeom prst="rect">
            <a:avLst/>
          </a:prstGeom>
        </p:spPr>
      </p:pic>
    </p:spTree>
    <p:extLst>
      <p:ext uri="{BB962C8B-B14F-4D97-AF65-F5344CB8AC3E}">
        <p14:creationId xmlns:p14="http://schemas.microsoft.com/office/powerpoint/2010/main" val="2489287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17B4A6-E608-356F-FF4A-9CF57AF3B32E}"/>
              </a:ext>
            </a:extLst>
          </p:cNvPr>
          <p:cNvSpPr txBox="1"/>
          <p:nvPr/>
        </p:nvSpPr>
        <p:spPr>
          <a:xfrm>
            <a:off x="491614" y="397151"/>
            <a:ext cx="4601496"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UML Designs:</a:t>
            </a:r>
            <a:endParaRPr lang="en-IN" sz="2800" b="1"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6D8F6C02-693F-A9FD-02DE-21FE5B7821B1}"/>
              </a:ext>
            </a:extLst>
          </p:cNvPr>
          <p:cNvSpPr txBox="1"/>
          <p:nvPr/>
        </p:nvSpPr>
        <p:spPr>
          <a:xfrm>
            <a:off x="491614" y="1133289"/>
            <a:ext cx="2979174" cy="461665"/>
          </a:xfrm>
          <a:prstGeom prst="rect">
            <a:avLst/>
          </a:prstGeom>
          <a:noFill/>
        </p:spPr>
        <p:txBody>
          <a:bodyPr wrap="square" rtlCol="0">
            <a:spAutoFit/>
          </a:bodyPr>
          <a:lstStyle/>
          <a:p>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Use case Diagram :</a:t>
            </a:r>
            <a:endParaRPr lang="en-IN" sz="24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F3114C3-FA17-FE81-0F7C-C1D8F52F07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99614" y="1807872"/>
            <a:ext cx="8578451" cy="4500468"/>
          </a:xfrm>
          <a:prstGeom prst="rect">
            <a:avLst/>
          </a:prstGeom>
        </p:spPr>
      </p:pic>
    </p:spTree>
    <p:extLst>
      <p:ext uri="{BB962C8B-B14F-4D97-AF65-F5344CB8AC3E}">
        <p14:creationId xmlns:p14="http://schemas.microsoft.com/office/powerpoint/2010/main" val="382592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6560541-FEE5-2C0D-69D8-1C7B8B9B7013}"/>
              </a:ext>
            </a:extLst>
          </p:cNvPr>
          <p:cNvSpPr txBox="1"/>
          <p:nvPr/>
        </p:nvSpPr>
        <p:spPr>
          <a:xfrm>
            <a:off x="550606" y="383457"/>
            <a:ext cx="4365523"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Class Diagram :</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1568C2EC-2777-EE23-2523-E97C8B5535D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0878" y="934066"/>
            <a:ext cx="9753600" cy="5540477"/>
          </a:xfrm>
          <a:prstGeom prst="rect">
            <a:avLst/>
          </a:prstGeom>
        </p:spPr>
      </p:pic>
    </p:spTree>
    <p:extLst>
      <p:ext uri="{BB962C8B-B14F-4D97-AF65-F5344CB8AC3E}">
        <p14:creationId xmlns:p14="http://schemas.microsoft.com/office/powerpoint/2010/main" val="948459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0B2BF1-04B0-1623-8598-C8BA78B222F9}"/>
              </a:ext>
            </a:extLst>
          </p:cNvPr>
          <p:cNvSpPr txBox="1"/>
          <p:nvPr/>
        </p:nvSpPr>
        <p:spPr>
          <a:xfrm>
            <a:off x="422787" y="442452"/>
            <a:ext cx="3647768"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Component Diagram:</a:t>
            </a:r>
          </a:p>
        </p:txBody>
      </p:sp>
      <p:pic>
        <p:nvPicPr>
          <p:cNvPr id="4" name="Picture 3">
            <a:extLst>
              <a:ext uri="{FF2B5EF4-FFF2-40B4-BE49-F238E27FC236}">
                <a16:creationId xmlns:a16="http://schemas.microsoft.com/office/drawing/2014/main" id="{B9D3FD30-5B54-522A-5B1C-0099048256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934" y="993058"/>
            <a:ext cx="10016389" cy="5422490"/>
          </a:xfrm>
          <a:prstGeom prst="rect">
            <a:avLst/>
          </a:prstGeom>
        </p:spPr>
      </p:pic>
    </p:spTree>
    <p:extLst>
      <p:ext uri="{BB962C8B-B14F-4D97-AF65-F5344CB8AC3E}">
        <p14:creationId xmlns:p14="http://schemas.microsoft.com/office/powerpoint/2010/main" val="39047538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5836B8-B681-CC2A-7A40-90A55ECEC7B2}"/>
              </a:ext>
            </a:extLst>
          </p:cNvPr>
          <p:cNvSpPr txBox="1"/>
          <p:nvPr/>
        </p:nvSpPr>
        <p:spPr>
          <a:xfrm>
            <a:off x="796413" y="393291"/>
            <a:ext cx="2900516" cy="461665"/>
          </a:xfrm>
          <a:prstGeom prst="rect">
            <a:avLst/>
          </a:prstGeom>
          <a:noFill/>
        </p:spPr>
        <p:txBody>
          <a:bodyPr wrap="square" rtlCol="0">
            <a:spAutoFit/>
          </a:bodyPr>
          <a:lstStyle/>
          <a:p>
            <a:r>
              <a:rPr lang="en-IN" sz="2400" b="1" dirty="0">
                <a:latin typeface="Times New Roman" panose="02020603050405020304" pitchFamily="18" charset="0"/>
                <a:cs typeface="Times New Roman" panose="02020603050405020304" pitchFamily="18" charset="0"/>
              </a:rPr>
              <a:t>Activity Diagram :</a:t>
            </a:r>
          </a:p>
        </p:txBody>
      </p:sp>
      <p:pic>
        <p:nvPicPr>
          <p:cNvPr id="4" name="Picture 3">
            <a:extLst>
              <a:ext uri="{FF2B5EF4-FFF2-40B4-BE49-F238E27FC236}">
                <a16:creationId xmlns:a16="http://schemas.microsoft.com/office/drawing/2014/main" id="{916699A9-D895-3DCD-9EC7-2AF00250C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413" y="854956"/>
            <a:ext cx="11061290" cy="5594555"/>
          </a:xfrm>
          <a:prstGeom prst="rect">
            <a:avLst/>
          </a:prstGeom>
        </p:spPr>
      </p:pic>
    </p:spTree>
    <p:extLst>
      <p:ext uri="{BB962C8B-B14F-4D97-AF65-F5344CB8AC3E}">
        <p14:creationId xmlns:p14="http://schemas.microsoft.com/office/powerpoint/2010/main" val="3468664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68E72AB-D9D1-0F21-8DBC-C3D00190CEB6}"/>
              </a:ext>
            </a:extLst>
          </p:cNvPr>
          <p:cNvSpPr txBox="1"/>
          <p:nvPr/>
        </p:nvSpPr>
        <p:spPr>
          <a:xfrm>
            <a:off x="599767" y="560439"/>
            <a:ext cx="3401962"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Deployment Diagram :</a:t>
            </a:r>
            <a:endParaRPr lang="en-IN" sz="2400" b="1"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82A52D0-3A3D-3416-E472-740AC14720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48144" y="1179871"/>
            <a:ext cx="6895711" cy="5117690"/>
          </a:xfrm>
          <a:prstGeom prst="rect">
            <a:avLst/>
          </a:prstGeom>
        </p:spPr>
      </p:pic>
    </p:spTree>
    <p:extLst>
      <p:ext uri="{BB962C8B-B14F-4D97-AF65-F5344CB8AC3E}">
        <p14:creationId xmlns:p14="http://schemas.microsoft.com/office/powerpoint/2010/main" val="2806418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4AE32E-EE87-2E87-0D7A-F9186E801BD5}"/>
              </a:ext>
            </a:extLst>
          </p:cNvPr>
          <p:cNvSpPr txBox="1"/>
          <p:nvPr/>
        </p:nvSpPr>
        <p:spPr>
          <a:xfrm>
            <a:off x="511276" y="447972"/>
            <a:ext cx="348062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Sequence Diagram:</a:t>
            </a:r>
            <a:endParaRPr lang="en-IN" sz="2400" b="1"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D4910861-2CA8-AD2A-FEED-27A4E02C3A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1276" y="909637"/>
            <a:ext cx="11080957" cy="5707473"/>
          </a:xfrm>
          <a:prstGeom prst="rect">
            <a:avLst/>
          </a:prstGeom>
        </p:spPr>
      </p:pic>
    </p:spTree>
    <p:extLst>
      <p:ext uri="{BB962C8B-B14F-4D97-AF65-F5344CB8AC3E}">
        <p14:creationId xmlns:p14="http://schemas.microsoft.com/office/powerpoint/2010/main" val="18034415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626464C-F237-24EA-9482-35394B9D5819}"/>
              </a:ext>
            </a:extLst>
          </p:cNvPr>
          <p:cNvSpPr txBox="1"/>
          <p:nvPr/>
        </p:nvSpPr>
        <p:spPr>
          <a:xfrm>
            <a:off x="501445" y="493760"/>
            <a:ext cx="6096000" cy="523220"/>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Implementation :</a:t>
            </a:r>
          </a:p>
        </p:txBody>
      </p:sp>
      <p:pic>
        <p:nvPicPr>
          <p:cNvPr id="4" name="Picture 3">
            <a:extLst>
              <a:ext uri="{FF2B5EF4-FFF2-40B4-BE49-F238E27FC236}">
                <a16:creationId xmlns:a16="http://schemas.microsoft.com/office/drawing/2014/main" id="{E0FECE08-8DFD-F954-0B69-8A7A1E866F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1445" y="2054942"/>
            <a:ext cx="11287432" cy="3795251"/>
          </a:xfrm>
          <a:prstGeom prst="rect">
            <a:avLst/>
          </a:prstGeom>
        </p:spPr>
      </p:pic>
      <p:sp>
        <p:nvSpPr>
          <p:cNvPr id="5" name="TextBox 4">
            <a:extLst>
              <a:ext uri="{FF2B5EF4-FFF2-40B4-BE49-F238E27FC236}">
                <a16:creationId xmlns:a16="http://schemas.microsoft.com/office/drawing/2014/main" id="{17F36382-3E8E-774B-2636-244342774474}"/>
              </a:ext>
            </a:extLst>
          </p:cNvPr>
          <p:cNvSpPr txBox="1"/>
          <p:nvPr/>
        </p:nvSpPr>
        <p:spPr>
          <a:xfrm>
            <a:off x="501445" y="1347019"/>
            <a:ext cx="2762865" cy="461665"/>
          </a:xfrm>
          <a:prstGeom prst="rect">
            <a:avLst/>
          </a:prstGeom>
          <a:noFill/>
        </p:spPr>
        <p:txBody>
          <a:bodyPr wrap="square" rtlCol="0">
            <a:spAutoFit/>
          </a:bodyPr>
          <a:lstStyle/>
          <a:p>
            <a:r>
              <a:rPr lang="en-IN" sz="2400" b="1" dirty="0"/>
              <a:t>Import Libraries :</a:t>
            </a:r>
          </a:p>
        </p:txBody>
      </p:sp>
    </p:spTree>
    <p:extLst>
      <p:ext uri="{BB962C8B-B14F-4D97-AF65-F5344CB8AC3E}">
        <p14:creationId xmlns:p14="http://schemas.microsoft.com/office/powerpoint/2010/main" val="299860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987570B-1659-59FE-148B-2E4F10E26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9580" y="934065"/>
            <a:ext cx="11020639" cy="5781367"/>
          </a:xfrm>
          <a:prstGeom prst="rect">
            <a:avLst/>
          </a:prstGeom>
        </p:spPr>
      </p:pic>
      <p:sp>
        <p:nvSpPr>
          <p:cNvPr id="4" name="TextBox 3">
            <a:extLst>
              <a:ext uri="{FF2B5EF4-FFF2-40B4-BE49-F238E27FC236}">
                <a16:creationId xmlns:a16="http://schemas.microsoft.com/office/drawing/2014/main" id="{183C2969-654D-FE82-C6B0-16323F3A4BF2}"/>
              </a:ext>
            </a:extLst>
          </p:cNvPr>
          <p:cNvSpPr txBox="1"/>
          <p:nvPr/>
        </p:nvSpPr>
        <p:spPr>
          <a:xfrm>
            <a:off x="689580" y="294968"/>
            <a:ext cx="2182762" cy="461665"/>
          </a:xfrm>
          <a:prstGeom prst="rect">
            <a:avLst/>
          </a:prstGeom>
          <a:noFill/>
        </p:spPr>
        <p:txBody>
          <a:bodyPr wrap="square" rtlCol="0">
            <a:spAutoFit/>
          </a:bodyPr>
          <a:lstStyle/>
          <a:p>
            <a:r>
              <a:rPr lang="en-IN" sz="2400" b="1" dirty="0"/>
              <a:t>Preprocessing :</a:t>
            </a:r>
          </a:p>
        </p:txBody>
      </p:sp>
    </p:spTree>
    <p:extLst>
      <p:ext uri="{BB962C8B-B14F-4D97-AF65-F5344CB8AC3E}">
        <p14:creationId xmlns:p14="http://schemas.microsoft.com/office/powerpoint/2010/main" val="3695134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608C967-B232-006B-780C-8DAABF38B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8720" y="1160206"/>
            <a:ext cx="10614559" cy="5309420"/>
          </a:xfrm>
          <a:prstGeom prst="rect">
            <a:avLst/>
          </a:prstGeom>
        </p:spPr>
      </p:pic>
      <p:sp>
        <p:nvSpPr>
          <p:cNvPr id="4" name="TextBox 3">
            <a:extLst>
              <a:ext uri="{FF2B5EF4-FFF2-40B4-BE49-F238E27FC236}">
                <a16:creationId xmlns:a16="http://schemas.microsoft.com/office/drawing/2014/main" id="{648E8798-3CB1-A8F6-75F3-B947EE932251}"/>
              </a:ext>
            </a:extLst>
          </p:cNvPr>
          <p:cNvSpPr txBox="1"/>
          <p:nvPr/>
        </p:nvSpPr>
        <p:spPr>
          <a:xfrm>
            <a:off x="788720" y="388374"/>
            <a:ext cx="2408903" cy="461665"/>
          </a:xfrm>
          <a:prstGeom prst="rect">
            <a:avLst/>
          </a:prstGeom>
          <a:noFill/>
        </p:spPr>
        <p:txBody>
          <a:bodyPr wrap="square" rtlCol="0">
            <a:spAutoFit/>
          </a:bodyPr>
          <a:lstStyle/>
          <a:p>
            <a:r>
              <a:rPr lang="en-IN" sz="2400" b="1" dirty="0"/>
              <a:t>Model Training :</a:t>
            </a:r>
          </a:p>
        </p:txBody>
      </p:sp>
    </p:spTree>
    <p:extLst>
      <p:ext uri="{BB962C8B-B14F-4D97-AF65-F5344CB8AC3E}">
        <p14:creationId xmlns:p14="http://schemas.microsoft.com/office/powerpoint/2010/main" val="3189139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629BCE-0BAC-D18E-0C91-2FAE9B8649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9051" y="1229032"/>
            <a:ext cx="5450304" cy="5427406"/>
          </a:xfrm>
          <a:prstGeom prst="rect">
            <a:avLst/>
          </a:prstGeom>
        </p:spPr>
      </p:pic>
      <p:pic>
        <p:nvPicPr>
          <p:cNvPr id="5" name="Picture 4">
            <a:extLst>
              <a:ext uri="{FF2B5EF4-FFF2-40B4-BE49-F238E27FC236}">
                <a16:creationId xmlns:a16="http://schemas.microsoft.com/office/drawing/2014/main" id="{AB3E0165-2C30-3985-3B93-91906F5214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8180" y="1229032"/>
            <a:ext cx="5968181" cy="5427406"/>
          </a:xfrm>
          <a:prstGeom prst="rect">
            <a:avLst/>
          </a:prstGeom>
        </p:spPr>
      </p:pic>
      <p:sp>
        <p:nvSpPr>
          <p:cNvPr id="6" name="TextBox 5">
            <a:extLst>
              <a:ext uri="{FF2B5EF4-FFF2-40B4-BE49-F238E27FC236}">
                <a16:creationId xmlns:a16="http://schemas.microsoft.com/office/drawing/2014/main" id="{ADEF30B8-5ADE-2D20-AE28-D83261437132}"/>
              </a:ext>
            </a:extLst>
          </p:cNvPr>
          <p:cNvSpPr txBox="1"/>
          <p:nvPr/>
        </p:nvSpPr>
        <p:spPr>
          <a:xfrm>
            <a:off x="449051" y="570271"/>
            <a:ext cx="4031226" cy="461665"/>
          </a:xfrm>
          <a:prstGeom prst="rect">
            <a:avLst/>
          </a:prstGeom>
          <a:noFill/>
        </p:spPr>
        <p:txBody>
          <a:bodyPr wrap="square" rtlCol="0">
            <a:spAutoFit/>
          </a:bodyPr>
          <a:lstStyle/>
          <a:p>
            <a:r>
              <a:rPr lang="en-IN" sz="2400" b="1" dirty="0"/>
              <a:t>Backend Model Integration :</a:t>
            </a:r>
          </a:p>
        </p:txBody>
      </p:sp>
    </p:spTree>
    <p:extLst>
      <p:ext uri="{BB962C8B-B14F-4D97-AF65-F5344CB8AC3E}">
        <p14:creationId xmlns:p14="http://schemas.microsoft.com/office/powerpoint/2010/main" val="266257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218843-1F3F-63B6-F39E-7EC6A68266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1780" y="1356852"/>
            <a:ext cx="11385755" cy="5142271"/>
          </a:xfrm>
          <a:prstGeom prst="rect">
            <a:avLst/>
          </a:prstGeom>
        </p:spPr>
      </p:pic>
      <p:sp>
        <p:nvSpPr>
          <p:cNvPr id="4" name="TextBox 3">
            <a:extLst>
              <a:ext uri="{FF2B5EF4-FFF2-40B4-BE49-F238E27FC236}">
                <a16:creationId xmlns:a16="http://schemas.microsoft.com/office/drawing/2014/main" id="{BB7BEF1F-57F4-4926-C50F-F409D524AC25}"/>
              </a:ext>
            </a:extLst>
          </p:cNvPr>
          <p:cNvSpPr txBox="1"/>
          <p:nvPr/>
        </p:nvSpPr>
        <p:spPr>
          <a:xfrm>
            <a:off x="481780" y="648929"/>
            <a:ext cx="2802193" cy="461665"/>
          </a:xfrm>
          <a:prstGeom prst="rect">
            <a:avLst/>
          </a:prstGeom>
          <a:noFill/>
        </p:spPr>
        <p:txBody>
          <a:bodyPr wrap="square" rtlCol="0">
            <a:spAutoFit/>
          </a:bodyPr>
          <a:lstStyle/>
          <a:p>
            <a:r>
              <a:rPr lang="en-IN" sz="2400" b="1" dirty="0"/>
              <a:t>Creating encoders :</a:t>
            </a:r>
          </a:p>
        </p:txBody>
      </p:sp>
    </p:spTree>
    <p:extLst>
      <p:ext uri="{BB962C8B-B14F-4D97-AF65-F5344CB8AC3E}">
        <p14:creationId xmlns:p14="http://schemas.microsoft.com/office/powerpoint/2010/main" val="145030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21EE906-898A-A12A-CF62-0A75B6552B43}"/>
              </a:ext>
            </a:extLst>
          </p:cNvPr>
          <p:cNvSpPr txBox="1"/>
          <p:nvPr/>
        </p:nvSpPr>
        <p:spPr>
          <a:xfrm>
            <a:off x="511277" y="540774"/>
            <a:ext cx="2556387" cy="523220"/>
          </a:xfrm>
          <a:prstGeom prst="rect">
            <a:avLst/>
          </a:prstGeom>
          <a:noFill/>
        </p:spPr>
        <p:txBody>
          <a:bodyPr wrap="square" rtlCol="0">
            <a:spAutoFit/>
          </a:bodyPr>
          <a:lstStyle/>
          <a:p>
            <a:r>
              <a:rPr lang="en-IN" sz="2800" b="1" dirty="0"/>
              <a:t>Result :</a:t>
            </a:r>
          </a:p>
        </p:txBody>
      </p:sp>
      <p:pic>
        <p:nvPicPr>
          <p:cNvPr id="2" name="Picture 1">
            <a:extLst>
              <a:ext uri="{FF2B5EF4-FFF2-40B4-BE49-F238E27FC236}">
                <a16:creationId xmlns:a16="http://schemas.microsoft.com/office/drawing/2014/main" id="{59491D76-0F63-730B-F201-A441668F50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0925" y="1248696"/>
            <a:ext cx="10295836" cy="5257681"/>
          </a:xfrm>
          <a:prstGeom prst="rect">
            <a:avLst/>
          </a:prstGeom>
        </p:spPr>
      </p:pic>
    </p:spTree>
    <p:extLst>
      <p:ext uri="{BB962C8B-B14F-4D97-AF65-F5344CB8AC3E}">
        <p14:creationId xmlns:p14="http://schemas.microsoft.com/office/powerpoint/2010/main" val="24695025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4FD19EC-DFD2-C3AE-EB58-4CF239D807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126" y="387127"/>
            <a:ext cx="5841874" cy="6043170"/>
          </a:xfrm>
          <a:prstGeom prst="rect">
            <a:avLst/>
          </a:prstGeom>
        </p:spPr>
      </p:pic>
      <p:pic>
        <p:nvPicPr>
          <p:cNvPr id="3" name="Picture 2">
            <a:extLst>
              <a:ext uri="{FF2B5EF4-FFF2-40B4-BE49-F238E27FC236}">
                <a16:creationId xmlns:a16="http://schemas.microsoft.com/office/drawing/2014/main" id="{5DA5E9DB-A844-AEA8-622D-37F7B1BBB4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387128"/>
            <a:ext cx="5841874" cy="6043170"/>
          </a:xfrm>
          <a:prstGeom prst="rect">
            <a:avLst/>
          </a:prstGeom>
        </p:spPr>
      </p:pic>
    </p:spTree>
    <p:extLst>
      <p:ext uri="{BB962C8B-B14F-4D97-AF65-F5344CB8AC3E}">
        <p14:creationId xmlns:p14="http://schemas.microsoft.com/office/powerpoint/2010/main" val="24774373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31B4CFA-5AD0-D227-E74A-9D5D7D7BFE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9935" y="540774"/>
            <a:ext cx="10903975" cy="5692877"/>
          </a:xfrm>
          <a:prstGeom prst="rect">
            <a:avLst/>
          </a:prstGeom>
        </p:spPr>
      </p:pic>
    </p:spTree>
    <p:extLst>
      <p:ext uri="{BB962C8B-B14F-4D97-AF65-F5344CB8AC3E}">
        <p14:creationId xmlns:p14="http://schemas.microsoft.com/office/powerpoint/2010/main" val="3212425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5F3A234-9650-6B92-D18E-6075614816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3898" y="776748"/>
            <a:ext cx="10491018" cy="5584723"/>
          </a:xfrm>
          <a:prstGeom prst="rect">
            <a:avLst/>
          </a:prstGeom>
        </p:spPr>
      </p:pic>
    </p:spTree>
    <p:extLst>
      <p:ext uri="{BB962C8B-B14F-4D97-AF65-F5344CB8AC3E}">
        <p14:creationId xmlns:p14="http://schemas.microsoft.com/office/powerpoint/2010/main" val="16422009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21BB03-B7CB-D8BF-844C-5C47E35FA3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768" y="890233"/>
            <a:ext cx="10726993" cy="5461406"/>
          </a:xfrm>
          <a:prstGeom prst="rect">
            <a:avLst/>
          </a:prstGeom>
        </p:spPr>
      </p:pic>
    </p:spTree>
    <p:extLst>
      <p:ext uri="{BB962C8B-B14F-4D97-AF65-F5344CB8AC3E}">
        <p14:creationId xmlns:p14="http://schemas.microsoft.com/office/powerpoint/2010/main" val="11165046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B8BE33A-9D17-DC0C-8D98-600D86051CF7}"/>
              </a:ext>
            </a:extLst>
          </p:cNvPr>
          <p:cNvSpPr txBox="1"/>
          <p:nvPr/>
        </p:nvSpPr>
        <p:spPr>
          <a:xfrm>
            <a:off x="763120" y="598395"/>
            <a:ext cx="8596033" cy="523220"/>
          </a:xfrm>
          <a:prstGeom prst="rect">
            <a:avLst/>
          </a:prstGeom>
          <a:noFill/>
        </p:spPr>
        <p:txBody>
          <a:bodyPr wrap="square" rtlCol="0">
            <a:spAutoFit/>
          </a:bodyPr>
          <a:lstStyle/>
          <a:p>
            <a:r>
              <a:rPr lang="en-IN" sz="2800" b="1" dirty="0"/>
              <a:t>Future </a:t>
            </a:r>
            <a:r>
              <a:rPr lang="en-IN" sz="2800" b="1" dirty="0">
                <a:latin typeface="Times New Roman" panose="02020603050405020304" pitchFamily="18" charset="0"/>
                <a:cs typeface="Times New Roman" panose="02020603050405020304" pitchFamily="18" charset="0"/>
              </a:rPr>
              <a:t>Enhancements :</a:t>
            </a:r>
          </a:p>
        </p:txBody>
      </p:sp>
      <p:sp>
        <p:nvSpPr>
          <p:cNvPr id="3" name="TextBox 2">
            <a:extLst>
              <a:ext uri="{FF2B5EF4-FFF2-40B4-BE49-F238E27FC236}">
                <a16:creationId xmlns:a16="http://schemas.microsoft.com/office/drawing/2014/main" id="{CE254228-C9D8-8F25-6DB6-C1EA6733FA71}"/>
              </a:ext>
            </a:extLst>
          </p:cNvPr>
          <p:cNvSpPr txBox="1"/>
          <p:nvPr/>
        </p:nvSpPr>
        <p:spPr>
          <a:xfrm>
            <a:off x="763120" y="1405217"/>
            <a:ext cx="10488706" cy="4401205"/>
          </a:xfrm>
          <a:prstGeom prst="rect">
            <a:avLst/>
          </a:prstGeom>
          <a:noFill/>
        </p:spPr>
        <p:txBody>
          <a:bodyPr wrap="square" rtlCol="0">
            <a:spAutoFit/>
          </a:bodyPr>
          <a:lstStyle/>
          <a:p>
            <a:pPr marL="457200" indent="-457200">
              <a:buFont typeface="Courier New" panose="02070309020205020404" pitchFamily="49" charset="0"/>
              <a:buChar char="o"/>
            </a:pPr>
            <a:r>
              <a:rPr lang="en-US" sz="2000" b="1" dirty="0">
                <a:cs typeface="Times New Roman" panose="02020603050405020304" pitchFamily="18" charset="0"/>
              </a:rPr>
              <a:t>Integration of Deep Learning Models </a:t>
            </a:r>
            <a:r>
              <a:rPr lang="en-US" sz="2000" dirty="0">
                <a:cs typeface="Times New Roman" panose="02020603050405020304" pitchFamily="18" charset="0"/>
              </a:rPr>
              <a:t>– Use advanced models like CNN or LSTM to improve detection accuracy and adapt to complex attack patterns.</a:t>
            </a:r>
          </a:p>
          <a:p>
            <a:pPr marL="457200" indent="-457200">
              <a:buFont typeface="Courier New" panose="02070309020205020404" pitchFamily="49" charset="0"/>
              <a:buChar char="o"/>
            </a:pPr>
            <a:endParaRPr lang="en-US" sz="2000" dirty="0">
              <a:cs typeface="Times New Roman" panose="02020603050405020304" pitchFamily="18" charset="0"/>
            </a:endParaRPr>
          </a:p>
          <a:p>
            <a:pPr marL="457200" indent="-457200">
              <a:buFont typeface="Courier New" panose="02070309020205020404" pitchFamily="49" charset="0"/>
              <a:buChar char="o"/>
            </a:pPr>
            <a:r>
              <a:rPr lang="en-US" sz="2000" b="1" dirty="0">
                <a:cs typeface="Times New Roman" panose="02020603050405020304" pitchFamily="18" charset="0"/>
              </a:rPr>
              <a:t>Real-Time Intrusion Detection </a:t>
            </a:r>
            <a:r>
              <a:rPr lang="en-US" sz="2000" dirty="0">
                <a:cs typeface="Times New Roman" panose="02020603050405020304" pitchFamily="18" charset="0"/>
              </a:rPr>
              <a:t>– Upgrade the system to monitor live network traffic and instantly identify intrusions.</a:t>
            </a:r>
          </a:p>
          <a:p>
            <a:pPr marL="457200" indent="-457200">
              <a:buFont typeface="Courier New" panose="02070309020205020404" pitchFamily="49" charset="0"/>
              <a:buChar char="o"/>
            </a:pPr>
            <a:endParaRPr lang="en-US" sz="2000" dirty="0">
              <a:cs typeface="Times New Roman" panose="02020603050405020304" pitchFamily="18" charset="0"/>
            </a:endParaRPr>
          </a:p>
          <a:p>
            <a:pPr marL="457200" indent="-457200">
              <a:buFont typeface="Courier New" panose="02070309020205020404" pitchFamily="49" charset="0"/>
              <a:buChar char="o"/>
            </a:pPr>
            <a:r>
              <a:rPr lang="en-US" sz="2000" b="1" dirty="0">
                <a:cs typeface="Times New Roman" panose="02020603050405020304" pitchFamily="18" charset="0"/>
              </a:rPr>
              <a:t>Automated Alert System </a:t>
            </a:r>
            <a:r>
              <a:rPr lang="en-US" sz="2000" dirty="0">
                <a:cs typeface="Times New Roman" panose="02020603050405020304" pitchFamily="18" charset="0"/>
              </a:rPr>
              <a:t>– Implement real-time notifications (via email or dashboard alerts) when suspicious activity is detected.</a:t>
            </a:r>
          </a:p>
          <a:p>
            <a:pPr marL="457200" indent="-457200">
              <a:buFont typeface="Courier New" panose="02070309020205020404" pitchFamily="49" charset="0"/>
              <a:buChar char="o"/>
            </a:pPr>
            <a:endParaRPr lang="en-US" sz="2000" dirty="0">
              <a:cs typeface="Times New Roman" panose="02020603050405020304" pitchFamily="18" charset="0"/>
            </a:endParaRPr>
          </a:p>
          <a:p>
            <a:pPr marL="457200" indent="-457200">
              <a:buFont typeface="Courier New" panose="02070309020205020404" pitchFamily="49" charset="0"/>
              <a:buChar char="o"/>
            </a:pPr>
            <a:r>
              <a:rPr lang="en-US" sz="2000" b="1" dirty="0">
                <a:cs typeface="Times New Roman" panose="02020603050405020304" pitchFamily="18" charset="0"/>
              </a:rPr>
              <a:t>Cloud Deployment </a:t>
            </a:r>
            <a:r>
              <a:rPr lang="en-US" sz="2000" dirty="0">
                <a:cs typeface="Times New Roman" panose="02020603050405020304" pitchFamily="18" charset="0"/>
              </a:rPr>
              <a:t>– Deploy the IDS on cloud platforms for scalability, accessibility, and efficient data handling.</a:t>
            </a:r>
          </a:p>
          <a:p>
            <a:pPr marL="457200" indent="-457200">
              <a:buFont typeface="Courier New" panose="02070309020205020404" pitchFamily="49" charset="0"/>
              <a:buChar char="o"/>
            </a:pPr>
            <a:endParaRPr lang="en-US" sz="2000" dirty="0">
              <a:cs typeface="Times New Roman" panose="02020603050405020304" pitchFamily="18" charset="0"/>
            </a:endParaRPr>
          </a:p>
          <a:p>
            <a:pPr marL="457200" indent="-457200">
              <a:buFont typeface="Courier New" panose="02070309020205020404" pitchFamily="49" charset="0"/>
              <a:buChar char="o"/>
            </a:pPr>
            <a:r>
              <a:rPr lang="en-US" sz="2000" b="1" dirty="0">
                <a:cs typeface="Times New Roman" panose="02020603050405020304" pitchFamily="18" charset="0"/>
              </a:rPr>
              <a:t>Integration with Firewall or Security Systems </a:t>
            </a:r>
            <a:r>
              <a:rPr lang="en-US" sz="2000" dirty="0">
                <a:cs typeface="Times New Roman" panose="02020603050405020304" pitchFamily="18" charset="0"/>
              </a:rPr>
              <a:t>– Link the IDS with firewalls or intrusion prevention systems (IPS) for automated blocking of malicious traffic.</a:t>
            </a:r>
            <a:endParaRPr lang="en-IN" sz="2000" dirty="0">
              <a:cs typeface="Times New Roman" panose="02020603050405020304" pitchFamily="18" charset="0"/>
            </a:endParaRPr>
          </a:p>
        </p:txBody>
      </p:sp>
    </p:spTree>
    <p:extLst>
      <p:ext uri="{BB962C8B-B14F-4D97-AF65-F5344CB8AC3E}">
        <p14:creationId xmlns:p14="http://schemas.microsoft.com/office/powerpoint/2010/main" val="1435165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C52B1AA-AEC0-60D4-E671-9384EA33C0A9}"/>
              </a:ext>
            </a:extLst>
          </p:cNvPr>
          <p:cNvSpPr txBox="1"/>
          <p:nvPr/>
        </p:nvSpPr>
        <p:spPr>
          <a:xfrm>
            <a:off x="3972232" y="2598003"/>
            <a:ext cx="6096000" cy="830997"/>
          </a:xfrm>
          <a:prstGeom prst="rect">
            <a:avLst/>
          </a:prstGeom>
          <a:noFill/>
        </p:spPr>
        <p:txBody>
          <a:bodyPr wrap="square">
            <a:spAutoFit/>
          </a:bodyPr>
          <a:lstStyle/>
          <a:p>
            <a:r>
              <a:rPr lang="en-IN" sz="4800" b="1" dirty="0">
                <a:solidFill>
                  <a:schemeClr val="accent6">
                    <a:lumMod val="5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8160392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TotalTime>
  <Words>1308</Words>
  <Application>Microsoft Office PowerPoint</Application>
  <PresentationFormat>Widescreen</PresentationFormat>
  <Paragraphs>131</Paragraphs>
  <Slides>29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Calibri</vt:lpstr>
      <vt:lpstr>Calibri Light</vt:lpstr>
      <vt:lpstr>Courier New</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LOK VINAY</dc:creator>
  <cp:lastModifiedBy>LOK VINAY</cp:lastModifiedBy>
  <cp:revision>15</cp:revision>
  <dcterms:created xsi:type="dcterms:W3CDTF">2025-08-10T12:14:50Z</dcterms:created>
  <dcterms:modified xsi:type="dcterms:W3CDTF">2025-11-19T15:23:08Z</dcterms:modified>
</cp:coreProperties>
</file>